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Arimo"/>
      <p:regular r:id="rId23"/>
      <p:bold r:id="rId24"/>
      <p:italic r:id="rId25"/>
      <p:boldItalic r:id="rId26"/>
    </p:embeddedFont>
    <p:embeddedFont>
      <p:font typeface="Arimo SemiBold"/>
      <p:regular r:id="rId27"/>
      <p:bold r:id="rId28"/>
      <p:italic r:id="rId29"/>
      <p:boldItalic r:id="rId30"/>
    </p:embeddedFont>
    <p:embeddedFont>
      <p:font typeface="Playfair Display"/>
      <p:regular r:id="rId31"/>
      <p:bold r:id="rId32"/>
      <p:italic r:id="rId33"/>
      <p:boldItalic r:id="rId34"/>
    </p:embeddedFont>
    <p:embeddedFont>
      <p:font typeface="Arimo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Arimo-bold.fntdata"/><Relationship Id="rId23" Type="http://schemas.openxmlformats.org/officeDocument/2006/relationships/font" Target="fonts/Arim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mo-boldItalic.fntdata"/><Relationship Id="rId25" Type="http://schemas.openxmlformats.org/officeDocument/2006/relationships/font" Target="fonts/Arimo-italic.fntdata"/><Relationship Id="rId28" Type="http://schemas.openxmlformats.org/officeDocument/2006/relationships/font" Target="fonts/ArimoSemiBold-bold.fntdata"/><Relationship Id="rId27" Type="http://schemas.openxmlformats.org/officeDocument/2006/relationships/font" Target="fonts/Arimo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rimoSemi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fairDisplay-regular.fntdata"/><Relationship Id="rId30" Type="http://schemas.openxmlformats.org/officeDocument/2006/relationships/font" Target="fonts/ArimoSemiBold-boldItalic.fntdata"/><Relationship Id="rId11" Type="http://schemas.openxmlformats.org/officeDocument/2006/relationships/slide" Target="slides/slide6.xml"/><Relationship Id="rId33" Type="http://schemas.openxmlformats.org/officeDocument/2006/relationships/font" Target="fonts/PlayfairDisplay-italic.fntdata"/><Relationship Id="rId10" Type="http://schemas.openxmlformats.org/officeDocument/2006/relationships/slide" Target="slides/slide5.xml"/><Relationship Id="rId32" Type="http://schemas.openxmlformats.org/officeDocument/2006/relationships/font" Target="fonts/PlayfairDisplay-bold.fntdata"/><Relationship Id="rId13" Type="http://schemas.openxmlformats.org/officeDocument/2006/relationships/slide" Target="slides/slide8.xml"/><Relationship Id="rId35" Type="http://schemas.openxmlformats.org/officeDocument/2006/relationships/font" Target="fonts/ArimoMedium-regular.fntdata"/><Relationship Id="rId12" Type="http://schemas.openxmlformats.org/officeDocument/2006/relationships/slide" Target="slides/slide7.xml"/><Relationship Id="rId34" Type="http://schemas.openxmlformats.org/officeDocument/2006/relationships/font" Target="fonts/PlayfairDisplay-boldItalic.fntdata"/><Relationship Id="rId15" Type="http://schemas.openxmlformats.org/officeDocument/2006/relationships/slide" Target="slides/slide10.xml"/><Relationship Id="rId37" Type="http://schemas.openxmlformats.org/officeDocument/2006/relationships/font" Target="fonts/ArimoMedium-italic.fntdata"/><Relationship Id="rId14" Type="http://schemas.openxmlformats.org/officeDocument/2006/relationships/slide" Target="slides/slide9.xml"/><Relationship Id="rId36" Type="http://schemas.openxmlformats.org/officeDocument/2006/relationships/font" Target="fonts/ArimoMedium-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Arimo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349aeeb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a349aeeb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 + Everyone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349aeeba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a349aeeba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Rohan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91228304e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91228304e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Tejas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a91228304e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a91228304e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Tejas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349aeeba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a349aeeba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Varun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a349aeebac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a349aeebac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Jorge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a83290168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a83290168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Jorge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a349aeebac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a349aeebac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aldo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a83290168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a83290168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aldo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a83290168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a83290168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aldo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a91228304e_6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a91228304e_6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Rohan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a91228304e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a91228304e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Zunaira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a91228304e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a91228304e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Zunaira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a83290168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a83290168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Varun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a349aeebac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a349aeebac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a91228304e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a91228304e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91228304e_6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a91228304e_6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10" name="Google Shape;10;p2"/>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11" name="Google Shape;11;p2"/>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13" name="Google Shape;13;p2"/>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4" name="Google Shape;14;p2"/>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5" name="Google Shape;15;p2"/>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6" name="Google Shape;16;p2"/>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17" name="Shape 17"/>
        <p:cNvGrpSpPr/>
        <p:nvPr/>
      </p:nvGrpSpPr>
      <p:grpSpPr>
        <a:xfrm>
          <a:off x="0" y="0"/>
          <a:ext cx="0" cy="0"/>
          <a:chOff x="0" y="0"/>
          <a:chExt cx="0" cy="0"/>
        </a:xfrm>
      </p:grpSpPr>
      <p:grpSp>
        <p:nvGrpSpPr>
          <p:cNvPr id="18" name="Google Shape;18;p3"/>
          <p:cNvGrpSpPr/>
          <p:nvPr/>
        </p:nvGrpSpPr>
        <p:grpSpPr>
          <a:xfrm>
            <a:off x="277515" y="277501"/>
            <a:ext cx="8589075" cy="4593888"/>
            <a:chOff x="277500" y="277500"/>
            <a:chExt cx="8589075" cy="4593888"/>
          </a:xfrm>
        </p:grpSpPr>
        <p:pic>
          <p:nvPicPr>
            <p:cNvPr id="19" name="Google Shape;19;p3"/>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20" name="Google Shape;20;p3"/>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21" name="Google Shape;21;p3"/>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22" name="Google Shape;22;p3"/>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23" name="Google Shape;23;p3"/>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24" name="Google Shape;24;p3"/>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25" name="Google Shape;25;p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6" name="Google Shape;26;p3"/>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27" name="Shape 27"/>
        <p:cNvGrpSpPr/>
        <p:nvPr/>
      </p:nvGrpSpPr>
      <p:grpSpPr>
        <a:xfrm>
          <a:off x="0" y="0"/>
          <a:ext cx="0" cy="0"/>
          <a:chOff x="0" y="0"/>
          <a:chExt cx="0" cy="0"/>
        </a:xfrm>
      </p:grpSpPr>
      <p:sp>
        <p:nvSpPr>
          <p:cNvPr id="28" name="Google Shape;28;p4"/>
          <p:cNvSpPr/>
          <p:nvPr>
            <p:ph idx="2" type="pic"/>
          </p:nvPr>
        </p:nvSpPr>
        <p:spPr>
          <a:xfrm>
            <a:off x="277500" y="1963600"/>
            <a:ext cx="1333800" cy="1337100"/>
          </a:xfrm>
          <a:prstGeom prst="roundRect">
            <a:avLst>
              <a:gd fmla="val 14278" name="adj"/>
            </a:avLst>
          </a:prstGeom>
          <a:noFill/>
          <a:ln>
            <a:noFill/>
          </a:ln>
        </p:spPr>
      </p:sp>
      <p:sp>
        <p:nvSpPr>
          <p:cNvPr id="29" name="Google Shape;29;p4"/>
          <p:cNvSpPr/>
          <p:nvPr>
            <p:ph idx="3" type="pic"/>
          </p:nvPr>
        </p:nvSpPr>
        <p:spPr>
          <a:xfrm>
            <a:off x="1728225" y="1963600"/>
            <a:ext cx="1333800" cy="1337100"/>
          </a:xfrm>
          <a:prstGeom prst="roundRect">
            <a:avLst>
              <a:gd fmla="val 14278" name="adj"/>
            </a:avLst>
          </a:prstGeom>
          <a:noFill/>
          <a:ln>
            <a:noFill/>
          </a:ln>
        </p:spPr>
      </p:sp>
      <p:sp>
        <p:nvSpPr>
          <p:cNvPr id="30" name="Google Shape;30;p4"/>
          <p:cNvSpPr/>
          <p:nvPr>
            <p:ph idx="4" type="pic"/>
          </p:nvPr>
        </p:nvSpPr>
        <p:spPr>
          <a:xfrm>
            <a:off x="3179025" y="1963600"/>
            <a:ext cx="1333800" cy="1337100"/>
          </a:xfrm>
          <a:prstGeom prst="roundRect">
            <a:avLst>
              <a:gd fmla="val 14278" name="adj"/>
            </a:avLst>
          </a:prstGeom>
          <a:noFill/>
          <a:ln>
            <a:noFill/>
          </a:ln>
        </p:spPr>
      </p:sp>
      <p:sp>
        <p:nvSpPr>
          <p:cNvPr id="31" name="Google Shape;31;p4"/>
          <p:cNvSpPr/>
          <p:nvPr>
            <p:ph idx="5" type="pic"/>
          </p:nvPr>
        </p:nvSpPr>
        <p:spPr>
          <a:xfrm>
            <a:off x="4629825" y="1963600"/>
            <a:ext cx="1333800" cy="1337100"/>
          </a:xfrm>
          <a:prstGeom prst="roundRect">
            <a:avLst>
              <a:gd fmla="val 14278" name="adj"/>
            </a:avLst>
          </a:prstGeom>
          <a:noFill/>
          <a:ln>
            <a:noFill/>
          </a:ln>
        </p:spPr>
      </p:sp>
      <p:sp>
        <p:nvSpPr>
          <p:cNvPr id="32" name="Google Shape;32;p4"/>
          <p:cNvSpPr/>
          <p:nvPr>
            <p:ph idx="6" type="pic"/>
          </p:nvPr>
        </p:nvSpPr>
        <p:spPr>
          <a:xfrm>
            <a:off x="6080625" y="1963600"/>
            <a:ext cx="1333800" cy="1337100"/>
          </a:xfrm>
          <a:prstGeom prst="roundRect">
            <a:avLst>
              <a:gd fmla="val 14278" name="adj"/>
            </a:avLst>
          </a:prstGeom>
          <a:noFill/>
          <a:ln>
            <a:noFill/>
          </a:ln>
        </p:spPr>
      </p:sp>
      <p:sp>
        <p:nvSpPr>
          <p:cNvPr id="33" name="Google Shape;33;p4"/>
          <p:cNvSpPr/>
          <p:nvPr>
            <p:ph idx="7" type="pic"/>
          </p:nvPr>
        </p:nvSpPr>
        <p:spPr>
          <a:xfrm>
            <a:off x="7531425" y="1963600"/>
            <a:ext cx="1333800" cy="1337100"/>
          </a:xfrm>
          <a:prstGeom prst="roundRect">
            <a:avLst>
              <a:gd fmla="val 14278" name="adj"/>
            </a:avLst>
          </a:prstGeom>
          <a:noFill/>
          <a:ln>
            <a:noFill/>
          </a:ln>
        </p:spPr>
      </p:sp>
      <p:sp>
        <p:nvSpPr>
          <p:cNvPr id="34" name="Google Shape;34;p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5" name="Google Shape;35;p4"/>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36" name="Google Shape;36;p4"/>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7" name="Google Shape;37;p4"/>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8" name="Google Shape;38;p4"/>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 name="Google Shape;39;p4"/>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0" name="Google Shape;40;p4"/>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1" name="Google Shape;41;p4"/>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2" name="Google Shape;42;p4"/>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3" name="Google Shape;43;p4"/>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4" name="Google Shape;44;p4"/>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5" name="Google Shape;45;p4"/>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6" name="Google Shape;46;p4"/>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7" name="Google Shape;47;p4"/>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8" name="Google Shape;48;p4"/>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49" name="Google Shape;49;p4"/>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50" name="Shape 50"/>
        <p:cNvGrpSpPr/>
        <p:nvPr/>
      </p:nvGrpSpPr>
      <p:grpSpPr>
        <a:xfrm>
          <a:off x="0" y="0"/>
          <a:ext cx="0" cy="0"/>
          <a:chOff x="0" y="0"/>
          <a:chExt cx="0" cy="0"/>
        </a:xfrm>
      </p:grpSpPr>
      <p:sp>
        <p:nvSpPr>
          <p:cNvPr id="51" name="Google Shape;51;p5"/>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2" name="Google Shape;52;p5"/>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3" name="Google Shape;53;p5"/>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4" name="Google Shape;54;p5"/>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5" name="Google Shape;55;p5"/>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6" name="Google Shape;56;p5"/>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7" name="Google Shape;57;p5"/>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8" name="Google Shape;58;p5"/>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9" name="Google Shape;59;p5"/>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0" name="Google Shape;60;p5"/>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1" name="Google Shape;61;p5"/>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2" name="Google Shape;62;p5"/>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3" name="Google Shape;63;p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4" name="Google Shape;64;p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65" name="Shape 65"/>
        <p:cNvGrpSpPr/>
        <p:nvPr/>
      </p:nvGrpSpPr>
      <p:grpSpPr>
        <a:xfrm>
          <a:off x="0" y="0"/>
          <a:ext cx="0" cy="0"/>
          <a:chOff x="0" y="0"/>
          <a:chExt cx="0" cy="0"/>
        </a:xfrm>
      </p:grpSpPr>
      <p:sp>
        <p:nvSpPr>
          <p:cNvPr id="66" name="Google Shape;66;p6"/>
          <p:cNvSpPr/>
          <p:nvPr>
            <p:ph idx="2" type="pic"/>
          </p:nvPr>
        </p:nvSpPr>
        <p:spPr>
          <a:xfrm>
            <a:off x="0" y="0"/>
            <a:ext cx="9144000" cy="5143500"/>
          </a:xfrm>
          <a:prstGeom prst="rect">
            <a:avLst/>
          </a:prstGeom>
          <a:noFill/>
          <a:ln>
            <a:noFill/>
          </a:ln>
        </p:spPr>
      </p:sp>
      <p:sp>
        <p:nvSpPr>
          <p:cNvPr id="67" name="Google Shape;67;p6"/>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68" name="Google Shape;68;p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9" name="Google Shape;69;p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0" name="Google Shape;70;p6"/>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1" name="Google Shape;71;p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72" name="Shape 72"/>
        <p:cNvGrpSpPr/>
        <p:nvPr/>
      </p:nvGrpSpPr>
      <p:grpSpPr>
        <a:xfrm>
          <a:off x="0" y="0"/>
          <a:ext cx="0" cy="0"/>
          <a:chOff x="0" y="0"/>
          <a:chExt cx="0" cy="0"/>
        </a:xfrm>
      </p:grpSpPr>
      <p:sp>
        <p:nvSpPr>
          <p:cNvPr id="73" name="Google Shape;73;p7"/>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74" name="Google Shape;74;p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5" name="Google Shape;75;p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6" name="Google Shape;76;p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7" name="Google Shape;77;p7"/>
          <p:cNvSpPr/>
          <p:nvPr>
            <p:ph idx="3" type="pic"/>
          </p:nvPr>
        </p:nvSpPr>
        <p:spPr>
          <a:xfrm>
            <a:off x="3766700" y="873150"/>
            <a:ext cx="1621800" cy="3549600"/>
          </a:xfrm>
          <a:prstGeom prst="roundRect">
            <a:avLst>
              <a:gd fmla="val 10482" name="adj"/>
            </a:avLst>
          </a:prstGeom>
          <a:noFill/>
          <a:ln>
            <a:noFill/>
          </a:ln>
        </p:spPr>
      </p:sp>
      <p:sp>
        <p:nvSpPr>
          <p:cNvPr id="78" name="Google Shape;78;p7"/>
          <p:cNvSpPr/>
          <p:nvPr>
            <p:ph idx="4" type="pic"/>
          </p:nvPr>
        </p:nvSpPr>
        <p:spPr>
          <a:xfrm>
            <a:off x="289100" y="1324475"/>
            <a:ext cx="1563300" cy="2531100"/>
          </a:xfrm>
          <a:prstGeom prst="roundRect">
            <a:avLst>
              <a:gd fmla="val 11947" name="adj"/>
            </a:avLst>
          </a:prstGeom>
          <a:noFill/>
          <a:ln>
            <a:noFill/>
          </a:ln>
        </p:spPr>
      </p:sp>
      <p:sp>
        <p:nvSpPr>
          <p:cNvPr id="79" name="Google Shape;79;p7"/>
          <p:cNvSpPr/>
          <p:nvPr>
            <p:ph idx="5" type="pic"/>
          </p:nvPr>
        </p:nvSpPr>
        <p:spPr>
          <a:xfrm>
            <a:off x="1969400" y="1142650"/>
            <a:ext cx="1563300" cy="2531100"/>
          </a:xfrm>
          <a:prstGeom prst="roundRect">
            <a:avLst>
              <a:gd fmla="val 11947" name="adj"/>
            </a:avLst>
          </a:prstGeom>
          <a:noFill/>
          <a:ln>
            <a:noFill/>
          </a:ln>
        </p:spPr>
      </p:sp>
      <p:sp>
        <p:nvSpPr>
          <p:cNvPr id="80" name="Google Shape;80;p7"/>
          <p:cNvSpPr/>
          <p:nvPr>
            <p:ph idx="6" type="pic"/>
          </p:nvPr>
        </p:nvSpPr>
        <p:spPr>
          <a:xfrm>
            <a:off x="5623125" y="1142650"/>
            <a:ext cx="1563300" cy="2531100"/>
          </a:xfrm>
          <a:prstGeom prst="roundRect">
            <a:avLst>
              <a:gd fmla="val 11947" name="adj"/>
            </a:avLst>
          </a:prstGeom>
          <a:noFill/>
          <a:ln>
            <a:noFill/>
          </a:ln>
        </p:spPr>
      </p:sp>
      <p:sp>
        <p:nvSpPr>
          <p:cNvPr id="81" name="Google Shape;81;p7"/>
          <p:cNvSpPr/>
          <p:nvPr>
            <p:ph idx="7" type="pic"/>
          </p:nvPr>
        </p:nvSpPr>
        <p:spPr>
          <a:xfrm>
            <a:off x="7304050" y="1324475"/>
            <a:ext cx="1563300" cy="2531100"/>
          </a:xfrm>
          <a:prstGeom prst="roundRect">
            <a:avLst>
              <a:gd fmla="val 11947" name="adj"/>
            </a:avLst>
          </a:prstGeom>
          <a:noFill/>
          <a:ln>
            <a:noFill/>
          </a:ln>
        </p:spPr>
      </p:sp>
      <p:sp>
        <p:nvSpPr>
          <p:cNvPr id="82" name="Google Shape;82;p7"/>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3" name="Google Shape;83;p7"/>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4" name="Google Shape;84;p7"/>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5" name="Google Shape;85;p7"/>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6" name="Google Shape;86;p7"/>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7" name="Google Shape;87;p7"/>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8" name="Google Shape;88;p7"/>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9" name="Google Shape;89;p7"/>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90" name="Shape 90"/>
        <p:cNvGrpSpPr/>
        <p:nvPr/>
      </p:nvGrpSpPr>
      <p:grpSpPr>
        <a:xfrm>
          <a:off x="0" y="0"/>
          <a:ext cx="0" cy="0"/>
          <a:chOff x="0" y="0"/>
          <a:chExt cx="0" cy="0"/>
        </a:xfrm>
      </p:grpSpPr>
      <p:sp>
        <p:nvSpPr>
          <p:cNvPr id="91" name="Google Shape;91;p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92" name="Google Shape;92;p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3" name="Google Shape;93;p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4" name="Google Shape;94;p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95" name="Shape 95"/>
        <p:cNvGrpSpPr/>
        <p:nvPr/>
      </p:nvGrpSpPr>
      <p:grpSpPr>
        <a:xfrm>
          <a:off x="0" y="0"/>
          <a:ext cx="0" cy="0"/>
          <a:chOff x="0" y="0"/>
          <a:chExt cx="0" cy="0"/>
        </a:xfrm>
      </p:grpSpPr>
      <p:pic>
        <p:nvPicPr>
          <p:cNvPr id="96" name="Google Shape;96;p9"/>
          <p:cNvPicPr preferRelativeResize="0"/>
          <p:nvPr/>
        </p:nvPicPr>
        <p:blipFill rotWithShape="1">
          <a:blip r:embed="rId2">
            <a:alphaModFix amt="10000"/>
          </a:blip>
          <a:srcRect b="720" l="1068" r="19" t="592"/>
          <a:stretch/>
        </p:blipFill>
        <p:spPr>
          <a:xfrm>
            <a:off x="277425" y="277650"/>
            <a:ext cx="8588100" cy="4582500"/>
          </a:xfrm>
          <a:prstGeom prst="roundRect">
            <a:avLst>
              <a:gd fmla="val 13460" name="adj"/>
            </a:avLst>
          </a:prstGeom>
          <a:noFill/>
          <a:ln>
            <a:noFill/>
          </a:ln>
        </p:spPr>
      </p:pic>
      <p:sp>
        <p:nvSpPr>
          <p:cNvPr id="97" name="Google Shape;97;p9"/>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98" name="Google Shape;98;p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99" name="Shape 99"/>
        <p:cNvGrpSpPr/>
        <p:nvPr/>
      </p:nvGrpSpPr>
      <p:grpSpPr>
        <a:xfrm>
          <a:off x="0" y="0"/>
          <a:ext cx="0" cy="0"/>
          <a:chOff x="0" y="0"/>
          <a:chExt cx="0" cy="0"/>
        </a:xfrm>
      </p:grpSpPr>
      <p:sp>
        <p:nvSpPr>
          <p:cNvPr id="100" name="Google Shape;100;p10"/>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1" name="Google Shape;101;p10"/>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2" name="Google Shape;102;p10"/>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3" name="Google Shape;103;p10"/>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4" name="Google Shape;104;p10"/>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5" name="Google Shape;105;p10"/>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6" name="Google Shape;106;p1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07" name="Shape 107"/>
        <p:cNvGrpSpPr/>
        <p:nvPr/>
      </p:nvGrpSpPr>
      <p:grpSpPr>
        <a:xfrm>
          <a:off x="0" y="0"/>
          <a:ext cx="0" cy="0"/>
          <a:chOff x="0" y="0"/>
          <a:chExt cx="0" cy="0"/>
        </a:xfrm>
      </p:grpSpPr>
      <p:sp>
        <p:nvSpPr>
          <p:cNvPr id="108" name="Google Shape;108;p11"/>
          <p:cNvSpPr/>
          <p:nvPr>
            <p:ph idx="2" type="pic"/>
          </p:nvPr>
        </p:nvSpPr>
        <p:spPr>
          <a:xfrm>
            <a:off x="7480825" y="734600"/>
            <a:ext cx="1383900" cy="1660200"/>
          </a:xfrm>
          <a:prstGeom prst="roundRect">
            <a:avLst>
              <a:gd fmla="val 11646" name="adj"/>
            </a:avLst>
          </a:prstGeom>
          <a:noFill/>
          <a:ln>
            <a:noFill/>
          </a:ln>
        </p:spPr>
      </p:sp>
      <p:sp>
        <p:nvSpPr>
          <p:cNvPr id="109" name="Google Shape;109;p11"/>
          <p:cNvSpPr/>
          <p:nvPr>
            <p:ph idx="3" type="pic"/>
          </p:nvPr>
        </p:nvSpPr>
        <p:spPr>
          <a:xfrm>
            <a:off x="7480825" y="2521175"/>
            <a:ext cx="1383900" cy="1879200"/>
          </a:xfrm>
          <a:prstGeom prst="roundRect">
            <a:avLst>
              <a:gd fmla="val 11646" name="adj"/>
            </a:avLst>
          </a:prstGeom>
          <a:noFill/>
          <a:ln>
            <a:noFill/>
          </a:ln>
        </p:spPr>
      </p:sp>
      <p:sp>
        <p:nvSpPr>
          <p:cNvPr id="110" name="Google Shape;110;p11"/>
          <p:cNvSpPr/>
          <p:nvPr>
            <p:ph idx="4" type="pic"/>
          </p:nvPr>
        </p:nvSpPr>
        <p:spPr>
          <a:xfrm>
            <a:off x="4665550" y="850900"/>
            <a:ext cx="2589300" cy="3433200"/>
          </a:xfrm>
          <a:prstGeom prst="roundRect">
            <a:avLst>
              <a:gd fmla="val 6330" name="adj"/>
            </a:avLst>
          </a:prstGeom>
          <a:noFill/>
          <a:ln>
            <a:noFill/>
          </a:ln>
        </p:spPr>
      </p:sp>
      <p:sp>
        <p:nvSpPr>
          <p:cNvPr id="111" name="Google Shape;111;p11"/>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2" name="Google Shape;112;p11"/>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3" name="Google Shape;113;p1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4" name="Google Shape;114;p11"/>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5" name="Google Shape;115;p1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16" name="Shape 116"/>
        <p:cNvGrpSpPr/>
        <p:nvPr/>
      </p:nvGrpSpPr>
      <p:grpSpPr>
        <a:xfrm>
          <a:off x="0" y="0"/>
          <a:ext cx="0" cy="0"/>
          <a:chOff x="0" y="0"/>
          <a:chExt cx="0" cy="0"/>
        </a:xfrm>
      </p:grpSpPr>
      <p:sp>
        <p:nvSpPr>
          <p:cNvPr id="117" name="Google Shape;117;p12"/>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8" name="Google Shape;118;p12"/>
          <p:cNvSpPr/>
          <p:nvPr>
            <p:ph idx="2" type="pic"/>
          </p:nvPr>
        </p:nvSpPr>
        <p:spPr>
          <a:xfrm>
            <a:off x="6220309" y="696000"/>
            <a:ext cx="2532900" cy="3358800"/>
          </a:xfrm>
          <a:prstGeom prst="roundRect">
            <a:avLst>
              <a:gd fmla="val 7223" name="adj"/>
            </a:avLst>
          </a:prstGeom>
          <a:noFill/>
          <a:ln>
            <a:noFill/>
          </a:ln>
        </p:spPr>
      </p:sp>
      <p:sp>
        <p:nvSpPr>
          <p:cNvPr id="119" name="Google Shape;119;p12"/>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0" name="Google Shape;120;p12"/>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1" name="Google Shape;121;p1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2" name="Google Shape;122;p12"/>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3" name="Google Shape;123;p1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6" name="Google Shape;126;p13"/>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7" name="Google Shape;127;p1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8" name="Google Shape;128;p13"/>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9" name="Google Shape;129;p1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30" name="Shape 130"/>
        <p:cNvGrpSpPr/>
        <p:nvPr/>
      </p:nvGrpSpPr>
      <p:grpSpPr>
        <a:xfrm>
          <a:off x="0" y="0"/>
          <a:ext cx="0" cy="0"/>
          <a:chOff x="0" y="0"/>
          <a:chExt cx="0" cy="0"/>
        </a:xfrm>
      </p:grpSpPr>
      <p:sp>
        <p:nvSpPr>
          <p:cNvPr id="131" name="Google Shape;131;p1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2" name="Google Shape;132;p1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3" name="Google Shape;133;p1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4" name="Google Shape;134;p1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35" name="Google Shape;135;p14"/>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6" name="Google Shape;136;p14"/>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7" name="Google Shape;137;p14"/>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8" name="Google Shape;138;p14"/>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39" name="Shape 139"/>
        <p:cNvGrpSpPr/>
        <p:nvPr/>
      </p:nvGrpSpPr>
      <p:grpSpPr>
        <a:xfrm>
          <a:off x="0" y="0"/>
          <a:ext cx="0" cy="0"/>
          <a:chOff x="0" y="0"/>
          <a:chExt cx="0" cy="0"/>
        </a:xfrm>
      </p:grpSpPr>
      <p:sp>
        <p:nvSpPr>
          <p:cNvPr id="140" name="Google Shape;140;p15"/>
          <p:cNvSpPr/>
          <p:nvPr>
            <p:ph idx="2" type="pic"/>
          </p:nvPr>
        </p:nvSpPr>
        <p:spPr>
          <a:xfrm>
            <a:off x="502800" y="2080575"/>
            <a:ext cx="603600" cy="603600"/>
          </a:xfrm>
          <a:prstGeom prst="ellipse">
            <a:avLst/>
          </a:prstGeom>
          <a:noFill/>
          <a:ln>
            <a:noFill/>
          </a:ln>
        </p:spPr>
      </p:sp>
      <p:sp>
        <p:nvSpPr>
          <p:cNvPr id="141" name="Google Shape;141;p15"/>
          <p:cNvSpPr/>
          <p:nvPr>
            <p:ph idx="3" type="pic"/>
          </p:nvPr>
        </p:nvSpPr>
        <p:spPr>
          <a:xfrm>
            <a:off x="6334750" y="2080575"/>
            <a:ext cx="603600" cy="603600"/>
          </a:xfrm>
          <a:prstGeom prst="ellipse">
            <a:avLst/>
          </a:prstGeom>
          <a:noFill/>
          <a:ln>
            <a:noFill/>
          </a:ln>
        </p:spPr>
      </p:sp>
      <p:sp>
        <p:nvSpPr>
          <p:cNvPr id="142" name="Google Shape;142;p15"/>
          <p:cNvSpPr/>
          <p:nvPr>
            <p:ph idx="4" type="pic"/>
          </p:nvPr>
        </p:nvSpPr>
        <p:spPr>
          <a:xfrm>
            <a:off x="3418775" y="2080550"/>
            <a:ext cx="603600" cy="603600"/>
          </a:xfrm>
          <a:prstGeom prst="ellipse">
            <a:avLst/>
          </a:prstGeom>
          <a:noFill/>
          <a:ln>
            <a:noFill/>
          </a:ln>
        </p:spPr>
      </p:sp>
      <p:sp>
        <p:nvSpPr>
          <p:cNvPr id="143" name="Google Shape;143;p1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44" name="Google Shape;144;p1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5" name="Google Shape;145;p15"/>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6" name="Google Shape;146;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47" name="Google Shape;147;p15"/>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8" name="Google Shape;148;p15"/>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15"/>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50" name="Google Shape;150;p15"/>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1" name="Google Shape;151;p15"/>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2" name="Google Shape;152;p15"/>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53" name="Shape 153"/>
        <p:cNvGrpSpPr/>
        <p:nvPr/>
      </p:nvGrpSpPr>
      <p:grpSpPr>
        <a:xfrm>
          <a:off x="0" y="0"/>
          <a:ext cx="0" cy="0"/>
          <a:chOff x="0" y="0"/>
          <a:chExt cx="0" cy="0"/>
        </a:xfrm>
      </p:grpSpPr>
      <p:sp>
        <p:nvSpPr>
          <p:cNvPr id="154" name="Google Shape;154;p16"/>
          <p:cNvSpPr/>
          <p:nvPr>
            <p:ph idx="2" type="pic"/>
          </p:nvPr>
        </p:nvSpPr>
        <p:spPr>
          <a:xfrm>
            <a:off x="4644850" y="1299225"/>
            <a:ext cx="1037700" cy="1056300"/>
          </a:xfrm>
          <a:prstGeom prst="roundRect">
            <a:avLst>
              <a:gd fmla="val 12807" name="adj"/>
            </a:avLst>
          </a:prstGeom>
          <a:noFill/>
          <a:ln>
            <a:noFill/>
          </a:ln>
        </p:spPr>
      </p:sp>
      <p:sp>
        <p:nvSpPr>
          <p:cNvPr id="155" name="Google Shape;155;p16"/>
          <p:cNvSpPr/>
          <p:nvPr>
            <p:ph idx="3" type="pic"/>
          </p:nvPr>
        </p:nvSpPr>
        <p:spPr>
          <a:xfrm>
            <a:off x="4644850" y="3642825"/>
            <a:ext cx="1037700" cy="1056300"/>
          </a:xfrm>
          <a:prstGeom prst="roundRect">
            <a:avLst>
              <a:gd fmla="val 12807" name="adj"/>
            </a:avLst>
          </a:prstGeom>
          <a:noFill/>
          <a:ln>
            <a:noFill/>
          </a:ln>
        </p:spPr>
      </p:sp>
      <p:sp>
        <p:nvSpPr>
          <p:cNvPr id="156" name="Google Shape;156;p16"/>
          <p:cNvSpPr/>
          <p:nvPr>
            <p:ph idx="4" type="pic"/>
          </p:nvPr>
        </p:nvSpPr>
        <p:spPr>
          <a:xfrm>
            <a:off x="7828875" y="2471025"/>
            <a:ext cx="1037700" cy="1056300"/>
          </a:xfrm>
          <a:prstGeom prst="roundRect">
            <a:avLst>
              <a:gd fmla="val 12807" name="adj"/>
            </a:avLst>
          </a:prstGeom>
          <a:noFill/>
          <a:ln>
            <a:noFill/>
          </a:ln>
        </p:spPr>
      </p:sp>
      <p:sp>
        <p:nvSpPr>
          <p:cNvPr id="157" name="Google Shape;157;p16"/>
          <p:cNvSpPr/>
          <p:nvPr>
            <p:ph idx="5" type="pic"/>
          </p:nvPr>
        </p:nvSpPr>
        <p:spPr>
          <a:xfrm>
            <a:off x="373175" y="1147525"/>
            <a:ext cx="3579900" cy="3607500"/>
          </a:xfrm>
          <a:prstGeom prst="roundRect">
            <a:avLst>
              <a:gd fmla="val 11548" name="adj"/>
            </a:avLst>
          </a:prstGeom>
          <a:noFill/>
          <a:ln>
            <a:noFill/>
          </a:ln>
        </p:spPr>
      </p:sp>
      <p:sp>
        <p:nvSpPr>
          <p:cNvPr id="158" name="Google Shape;158;p16"/>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59" name="Google Shape;159;p1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16"/>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1" name="Google Shape;161;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62" name="Google Shape;162;p16"/>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3" name="Google Shape;163;p16"/>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4" name="Google Shape;164;p16"/>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5" name="Google Shape;165;p16"/>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6" name="Google Shape;166;p16"/>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7" name="Google Shape;167;p16"/>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168" name="Shape 168"/>
        <p:cNvGrpSpPr/>
        <p:nvPr/>
      </p:nvGrpSpPr>
      <p:grpSpPr>
        <a:xfrm>
          <a:off x="0" y="0"/>
          <a:ext cx="0" cy="0"/>
          <a:chOff x="0" y="0"/>
          <a:chExt cx="0" cy="0"/>
        </a:xfrm>
      </p:grpSpPr>
      <p:sp>
        <p:nvSpPr>
          <p:cNvPr id="169" name="Google Shape;169;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0" name="Google Shape;170;p1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1" name="Google Shape;171;p1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2" name="Google Shape;172;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73" name="Google Shape;173;p17"/>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4" name="Google Shape;174;p17"/>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5" name="Google Shape;175;p17"/>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6" name="Google Shape;176;p17"/>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7" name="Google Shape;177;p17"/>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8" name="Google Shape;178;p17"/>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9" name="Google Shape;179;p17"/>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80" name="Google Shape;180;p17"/>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181" name="Shape 181"/>
        <p:cNvGrpSpPr/>
        <p:nvPr/>
      </p:nvGrpSpPr>
      <p:grpSpPr>
        <a:xfrm>
          <a:off x="0" y="0"/>
          <a:ext cx="0" cy="0"/>
          <a:chOff x="0" y="0"/>
          <a:chExt cx="0" cy="0"/>
        </a:xfrm>
      </p:grpSpPr>
      <p:sp>
        <p:nvSpPr>
          <p:cNvPr id="182" name="Google Shape;182;p18"/>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83" name="Google Shape;183;p18"/>
          <p:cNvSpPr/>
          <p:nvPr>
            <p:ph idx="2" type="pic"/>
          </p:nvPr>
        </p:nvSpPr>
        <p:spPr>
          <a:xfrm>
            <a:off x="392100" y="411300"/>
            <a:ext cx="4297500" cy="4333200"/>
          </a:xfrm>
          <a:prstGeom prst="roundRect">
            <a:avLst>
              <a:gd fmla="val 12298" name="adj"/>
            </a:avLst>
          </a:prstGeom>
          <a:noFill/>
          <a:ln>
            <a:noFill/>
          </a:ln>
        </p:spPr>
      </p:sp>
      <p:sp>
        <p:nvSpPr>
          <p:cNvPr id="184" name="Google Shape;184;p18"/>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85" name="Google Shape;185;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186" name="Shape 186"/>
        <p:cNvGrpSpPr/>
        <p:nvPr/>
      </p:nvGrpSpPr>
      <p:grpSpPr>
        <a:xfrm>
          <a:off x="0" y="0"/>
          <a:ext cx="0" cy="0"/>
          <a:chOff x="0" y="0"/>
          <a:chExt cx="0" cy="0"/>
        </a:xfrm>
      </p:grpSpPr>
      <p:sp>
        <p:nvSpPr>
          <p:cNvPr id="187" name="Google Shape;187;p19"/>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88" name="Google Shape;188;p19"/>
          <p:cNvSpPr/>
          <p:nvPr>
            <p:ph idx="2" type="pic"/>
          </p:nvPr>
        </p:nvSpPr>
        <p:spPr>
          <a:xfrm>
            <a:off x="289100" y="1685250"/>
            <a:ext cx="1751100" cy="1773000"/>
          </a:xfrm>
          <a:prstGeom prst="roundRect">
            <a:avLst>
              <a:gd fmla="val 11894" name="adj"/>
            </a:avLst>
          </a:prstGeom>
          <a:noFill/>
          <a:ln>
            <a:noFill/>
          </a:ln>
        </p:spPr>
      </p:sp>
      <p:sp>
        <p:nvSpPr>
          <p:cNvPr id="189" name="Google Shape;189;p19"/>
          <p:cNvSpPr/>
          <p:nvPr>
            <p:ph idx="3" type="pic"/>
          </p:nvPr>
        </p:nvSpPr>
        <p:spPr>
          <a:xfrm>
            <a:off x="2152200" y="1685250"/>
            <a:ext cx="1751100" cy="1773000"/>
          </a:xfrm>
          <a:prstGeom prst="roundRect">
            <a:avLst>
              <a:gd fmla="val 11894" name="adj"/>
            </a:avLst>
          </a:prstGeom>
          <a:noFill/>
          <a:ln>
            <a:noFill/>
          </a:ln>
        </p:spPr>
      </p:sp>
      <p:sp>
        <p:nvSpPr>
          <p:cNvPr id="190" name="Google Shape;190;p19"/>
          <p:cNvSpPr/>
          <p:nvPr>
            <p:ph idx="4" type="pic"/>
          </p:nvPr>
        </p:nvSpPr>
        <p:spPr>
          <a:xfrm>
            <a:off x="4015300" y="1685250"/>
            <a:ext cx="1751100" cy="1773000"/>
          </a:xfrm>
          <a:prstGeom prst="roundRect">
            <a:avLst>
              <a:gd fmla="val 11894" name="adj"/>
            </a:avLst>
          </a:prstGeom>
          <a:noFill/>
          <a:ln>
            <a:noFill/>
          </a:ln>
        </p:spPr>
      </p:sp>
      <p:sp>
        <p:nvSpPr>
          <p:cNvPr id="191" name="Google Shape;191;p19"/>
          <p:cNvSpPr/>
          <p:nvPr>
            <p:ph idx="5" type="pic"/>
          </p:nvPr>
        </p:nvSpPr>
        <p:spPr>
          <a:xfrm>
            <a:off x="5866250" y="1685250"/>
            <a:ext cx="1751100" cy="1773000"/>
          </a:xfrm>
          <a:prstGeom prst="roundRect">
            <a:avLst>
              <a:gd fmla="val 11894" name="adj"/>
            </a:avLst>
          </a:prstGeom>
          <a:noFill/>
          <a:ln>
            <a:noFill/>
          </a:ln>
        </p:spPr>
      </p:sp>
      <p:sp>
        <p:nvSpPr>
          <p:cNvPr id="192" name="Google Shape;192;p19"/>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193" name="Google Shape;193;p19"/>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4" name="Google Shape;194;p19"/>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5" name="Google Shape;195;p19"/>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6" name="Google Shape;196;p19"/>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7" name="Google Shape;197;p19"/>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8" name="Google Shape;198;p19"/>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9" name="Google Shape;199;p1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0" name="Google Shape;200;p19"/>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1" name="Google Shape;201;p19"/>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2" name="Google Shape;202;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03" name="Shape 203"/>
        <p:cNvGrpSpPr/>
        <p:nvPr/>
      </p:nvGrpSpPr>
      <p:grpSpPr>
        <a:xfrm>
          <a:off x="0" y="0"/>
          <a:ext cx="0" cy="0"/>
          <a:chOff x="0" y="0"/>
          <a:chExt cx="0" cy="0"/>
        </a:xfrm>
      </p:grpSpPr>
      <p:sp>
        <p:nvSpPr>
          <p:cNvPr id="204" name="Google Shape;204;p20"/>
          <p:cNvSpPr/>
          <p:nvPr>
            <p:ph idx="2" type="pic"/>
          </p:nvPr>
        </p:nvSpPr>
        <p:spPr>
          <a:xfrm>
            <a:off x="392100" y="411300"/>
            <a:ext cx="4915800" cy="4333200"/>
          </a:xfrm>
          <a:prstGeom prst="roundRect">
            <a:avLst>
              <a:gd fmla="val 11160" name="adj"/>
            </a:avLst>
          </a:prstGeom>
          <a:noFill/>
          <a:ln>
            <a:noFill/>
          </a:ln>
        </p:spPr>
      </p:sp>
      <p:sp>
        <p:nvSpPr>
          <p:cNvPr id="205" name="Google Shape;205;p20"/>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6" name="Google Shape;206;p20"/>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7" name="Google Shape;207;p2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8" name="Google Shape;208;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09" name="Shape 209"/>
        <p:cNvGrpSpPr/>
        <p:nvPr/>
      </p:nvGrpSpPr>
      <p:grpSpPr>
        <a:xfrm>
          <a:off x="0" y="0"/>
          <a:ext cx="0" cy="0"/>
          <a:chOff x="0" y="0"/>
          <a:chExt cx="0" cy="0"/>
        </a:xfrm>
      </p:grpSpPr>
      <p:sp>
        <p:nvSpPr>
          <p:cNvPr id="210" name="Google Shape;210;p21"/>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1" name="Google Shape;211;p21"/>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2" name="Google Shape;212;p21"/>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13" name="Google Shape;213;p21"/>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14" name="Google Shape;214;p21"/>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15" name="Google Shape;215;p21"/>
          <p:cNvSpPr/>
          <p:nvPr>
            <p:ph idx="2" type="pic"/>
          </p:nvPr>
        </p:nvSpPr>
        <p:spPr>
          <a:xfrm>
            <a:off x="3910200" y="3408075"/>
            <a:ext cx="3486300" cy="1447800"/>
          </a:xfrm>
          <a:prstGeom prst="roundRect">
            <a:avLst>
              <a:gd fmla="val 16397" name="adj"/>
            </a:avLst>
          </a:prstGeom>
          <a:noFill/>
          <a:ln>
            <a:noFill/>
          </a:ln>
        </p:spPr>
      </p:sp>
      <p:sp>
        <p:nvSpPr>
          <p:cNvPr id="216" name="Google Shape;216;p21"/>
          <p:cNvSpPr/>
          <p:nvPr>
            <p:ph idx="3" type="pic"/>
          </p:nvPr>
        </p:nvSpPr>
        <p:spPr>
          <a:xfrm>
            <a:off x="277500" y="277500"/>
            <a:ext cx="2765700" cy="3013800"/>
          </a:xfrm>
          <a:prstGeom prst="roundRect">
            <a:avLst>
              <a:gd fmla="val 8721" name="adj"/>
            </a:avLst>
          </a:prstGeom>
          <a:noFill/>
          <a:ln>
            <a:noFill/>
          </a:ln>
        </p:spPr>
      </p:sp>
      <p:sp>
        <p:nvSpPr>
          <p:cNvPr id="217" name="Google Shape;217;p21"/>
          <p:cNvSpPr/>
          <p:nvPr>
            <p:ph idx="4" type="pic"/>
          </p:nvPr>
        </p:nvSpPr>
        <p:spPr>
          <a:xfrm>
            <a:off x="3161225" y="277500"/>
            <a:ext cx="1350600" cy="1447800"/>
          </a:xfrm>
          <a:prstGeom prst="roundRect">
            <a:avLst>
              <a:gd fmla="val 15267" name="adj"/>
            </a:avLst>
          </a:prstGeom>
          <a:noFill/>
          <a:ln>
            <a:noFill/>
          </a:ln>
        </p:spPr>
      </p:sp>
      <p:sp>
        <p:nvSpPr>
          <p:cNvPr id="218" name="Google Shape;218;p21"/>
          <p:cNvSpPr/>
          <p:nvPr>
            <p:ph idx="5" type="pic"/>
          </p:nvPr>
        </p:nvSpPr>
        <p:spPr>
          <a:xfrm>
            <a:off x="6883575" y="399550"/>
            <a:ext cx="1866000" cy="2775000"/>
          </a:xfrm>
          <a:prstGeom prst="roundRect">
            <a:avLst>
              <a:gd fmla="val 9097" name="adj"/>
            </a:avLst>
          </a:prstGeom>
          <a:noFill/>
          <a:ln>
            <a:noFill/>
          </a:ln>
        </p:spPr>
      </p:sp>
      <p:sp>
        <p:nvSpPr>
          <p:cNvPr id="219" name="Google Shape;219;p21"/>
          <p:cNvSpPr/>
          <p:nvPr>
            <p:ph idx="6" type="pic"/>
          </p:nvPr>
        </p:nvSpPr>
        <p:spPr>
          <a:xfrm>
            <a:off x="7516025" y="3407700"/>
            <a:ext cx="1350600" cy="1447800"/>
          </a:xfrm>
          <a:prstGeom prst="roundRect">
            <a:avLst>
              <a:gd fmla="val 16397" name="adj"/>
            </a:avLst>
          </a:prstGeom>
          <a:noFill/>
          <a:ln>
            <a:noFill/>
          </a:ln>
        </p:spPr>
      </p:sp>
      <p:sp>
        <p:nvSpPr>
          <p:cNvPr id="220" name="Google Shape;220;p21"/>
          <p:cNvSpPr/>
          <p:nvPr>
            <p:ph idx="7" type="pic"/>
          </p:nvPr>
        </p:nvSpPr>
        <p:spPr>
          <a:xfrm>
            <a:off x="394425" y="3528475"/>
            <a:ext cx="3279600" cy="1218900"/>
          </a:xfrm>
          <a:prstGeom prst="roundRect">
            <a:avLst>
              <a:gd fmla="val 11412" name="adj"/>
            </a:avLst>
          </a:prstGeom>
          <a:noFill/>
          <a:ln>
            <a:noFill/>
          </a:ln>
        </p:spPr>
      </p:sp>
      <p:sp>
        <p:nvSpPr>
          <p:cNvPr id="221" name="Google Shape;221;p21"/>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22" name="Google Shape;222;p21"/>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23" name="Google Shape;223;p21"/>
          <p:cNvCxnSpPr>
            <a:stCxn id="221" idx="1"/>
            <a:endCxn id="221"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24" name="Google Shape;224;p21"/>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25" name="Google Shape;225;p21"/>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26" name="Google Shape;226;p21"/>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27" name="Google Shape;227;p21"/>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28" name="Google Shape;228;p21"/>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29" name="Google Shape;229;p21"/>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30" name="Google Shape;230;p21"/>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1" name="Google Shape;231;p21"/>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2" name="Google Shape;232;p21"/>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3" name="Google Shape;233;p21"/>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4" name="Google Shape;234;p21"/>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35" name="Google Shape;235;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36" name="Google Shape;236;p21"/>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37" name="Shape 237"/>
        <p:cNvGrpSpPr/>
        <p:nvPr/>
      </p:nvGrpSpPr>
      <p:grpSpPr>
        <a:xfrm>
          <a:off x="0" y="0"/>
          <a:ext cx="0" cy="0"/>
          <a:chOff x="0" y="0"/>
          <a:chExt cx="0" cy="0"/>
        </a:xfrm>
      </p:grpSpPr>
      <p:sp>
        <p:nvSpPr>
          <p:cNvPr id="238" name="Google Shape;238;p22"/>
          <p:cNvSpPr/>
          <p:nvPr>
            <p:ph idx="2" type="pic"/>
          </p:nvPr>
        </p:nvSpPr>
        <p:spPr>
          <a:xfrm>
            <a:off x="2021325" y="1854425"/>
            <a:ext cx="1679100" cy="3013800"/>
          </a:xfrm>
          <a:prstGeom prst="roundRect">
            <a:avLst>
              <a:gd fmla="val 13643" name="adj"/>
            </a:avLst>
          </a:prstGeom>
          <a:noFill/>
          <a:ln>
            <a:noFill/>
          </a:ln>
        </p:spPr>
      </p:sp>
      <p:sp>
        <p:nvSpPr>
          <p:cNvPr id="239" name="Google Shape;239;p22"/>
          <p:cNvSpPr/>
          <p:nvPr>
            <p:ph idx="3" type="pic"/>
          </p:nvPr>
        </p:nvSpPr>
        <p:spPr>
          <a:xfrm>
            <a:off x="5444400" y="1854425"/>
            <a:ext cx="1679100" cy="3013800"/>
          </a:xfrm>
          <a:prstGeom prst="roundRect">
            <a:avLst>
              <a:gd fmla="val 13643" name="adj"/>
            </a:avLst>
          </a:prstGeom>
          <a:noFill/>
          <a:ln>
            <a:noFill/>
          </a:ln>
        </p:spPr>
      </p:sp>
      <p:sp>
        <p:nvSpPr>
          <p:cNvPr id="240" name="Google Shape;240;p22"/>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22"/>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2" name="Google Shape;242;p22"/>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22"/>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4" name="Google Shape;244;p22"/>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22"/>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22"/>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8" name="Shape 248"/>
        <p:cNvGrpSpPr/>
        <p:nvPr/>
      </p:nvGrpSpPr>
      <p:grpSpPr>
        <a:xfrm>
          <a:off x="0" y="0"/>
          <a:ext cx="0" cy="0"/>
          <a:chOff x="0" y="0"/>
          <a:chExt cx="0" cy="0"/>
        </a:xfrm>
      </p:grpSpPr>
      <p:sp>
        <p:nvSpPr>
          <p:cNvPr id="249" name="Google Shape;249;p23"/>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50" name="Google Shape;250;p23"/>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51" name="Shape 251"/>
        <p:cNvGrpSpPr/>
        <p:nvPr/>
      </p:nvGrpSpPr>
      <p:grpSpPr>
        <a:xfrm>
          <a:off x="0" y="0"/>
          <a:ext cx="0" cy="0"/>
          <a:chOff x="0" y="0"/>
          <a:chExt cx="0" cy="0"/>
        </a:xfrm>
      </p:grpSpPr>
      <p:sp>
        <p:nvSpPr>
          <p:cNvPr id="252" name="Google Shape;252;p24"/>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53" name="Shape 253"/>
        <p:cNvGrpSpPr/>
        <p:nvPr/>
      </p:nvGrpSpPr>
      <p:grpSpPr>
        <a:xfrm>
          <a:off x="0" y="0"/>
          <a:ext cx="0" cy="0"/>
          <a:chOff x="0" y="0"/>
          <a:chExt cx="0" cy="0"/>
        </a:xfrm>
      </p:grpSpPr>
      <p:sp>
        <p:nvSpPr>
          <p:cNvPr id="254" name="Google Shape;254;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5" name="Google Shape;255;p25"/>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6" name="Shape 256"/>
        <p:cNvGrpSpPr/>
        <p:nvPr/>
      </p:nvGrpSpPr>
      <p:grpSpPr>
        <a:xfrm>
          <a:off x="0" y="0"/>
          <a:ext cx="0" cy="0"/>
          <a:chOff x="0" y="0"/>
          <a:chExt cx="0" cy="0"/>
        </a:xfrm>
      </p:grpSpPr>
      <p:sp>
        <p:nvSpPr>
          <p:cNvPr id="257" name="Google Shape;257;p2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8" name="Google Shape;258;p26"/>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9" name="Google Shape;259;p26"/>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64" name="Google Shape;264;p28"/>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65" name="Shape 265"/>
        <p:cNvGrpSpPr/>
        <p:nvPr/>
      </p:nvGrpSpPr>
      <p:grpSpPr>
        <a:xfrm>
          <a:off x="0" y="0"/>
          <a:ext cx="0" cy="0"/>
          <a:chOff x="0" y="0"/>
          <a:chExt cx="0" cy="0"/>
        </a:xfrm>
      </p:grpSpPr>
      <p:sp>
        <p:nvSpPr>
          <p:cNvPr id="266" name="Google Shape;266;p29"/>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7" name="Shape 267"/>
        <p:cNvGrpSpPr/>
        <p:nvPr/>
      </p:nvGrpSpPr>
      <p:grpSpPr>
        <a:xfrm>
          <a:off x="0" y="0"/>
          <a:ext cx="0" cy="0"/>
          <a:chOff x="0" y="0"/>
          <a:chExt cx="0" cy="0"/>
        </a:xfrm>
      </p:grpSpPr>
      <p:sp>
        <p:nvSpPr>
          <p:cNvPr id="268" name="Google Shape;268;p30"/>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69" name="Google Shape;269;p30"/>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0" name="Google Shape;270;p30"/>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71" name="Shape 271"/>
        <p:cNvGrpSpPr/>
        <p:nvPr/>
      </p:nvGrpSpPr>
      <p:grpSpPr>
        <a:xfrm>
          <a:off x="0" y="0"/>
          <a:ext cx="0" cy="0"/>
          <a:chOff x="0" y="0"/>
          <a:chExt cx="0" cy="0"/>
        </a:xfrm>
      </p:grpSpPr>
      <p:sp>
        <p:nvSpPr>
          <p:cNvPr id="272" name="Google Shape;272;p31"/>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73" name="Shape 273"/>
        <p:cNvGrpSpPr/>
        <p:nvPr/>
      </p:nvGrpSpPr>
      <p:grpSpPr>
        <a:xfrm>
          <a:off x="0" y="0"/>
          <a:ext cx="0" cy="0"/>
          <a:chOff x="0" y="0"/>
          <a:chExt cx="0" cy="0"/>
        </a:xfrm>
      </p:grpSpPr>
      <p:sp>
        <p:nvSpPr>
          <p:cNvPr id="274" name="Google Shape;274;p32"/>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75" name="Google Shape;275;p32"/>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6" name="Shape 27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7" name="Shape 277"/>
        <p:cNvGrpSpPr/>
        <p:nvPr/>
      </p:nvGrpSpPr>
      <p:grpSpPr>
        <a:xfrm>
          <a:off x="0" y="0"/>
          <a:ext cx="0" cy="0"/>
          <a:chOff x="0" y="0"/>
          <a:chExt cx="0" cy="0"/>
        </a:xfrm>
      </p:grpSpPr>
      <p:sp>
        <p:nvSpPr>
          <p:cNvPr id="278" name="Google Shape;278;p34"/>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4"/>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34"/>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34"/>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34"/>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3" name="Google Shape;283;p34"/>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4" name="Google Shape;284;p34"/>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7" name="Google Shape;287;p35"/>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8" name="Google Shape;288;p3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9" name="Shape 289"/>
        <p:cNvGrpSpPr/>
        <p:nvPr/>
      </p:nvGrpSpPr>
      <p:grpSpPr>
        <a:xfrm>
          <a:off x="0" y="0"/>
          <a:ext cx="0" cy="0"/>
          <a:chOff x="0" y="0"/>
          <a:chExt cx="0" cy="0"/>
        </a:xfrm>
      </p:grpSpPr>
      <p:sp>
        <p:nvSpPr>
          <p:cNvPr id="290" name="Google Shape;290;p3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1" name="Google Shape;291;p36"/>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36"/>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3" name="Google Shape;293;p36"/>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4" name="Google Shape;294;p36"/>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95" name="Shape 295"/>
        <p:cNvGrpSpPr/>
        <p:nvPr/>
      </p:nvGrpSpPr>
      <p:grpSpPr>
        <a:xfrm>
          <a:off x="0" y="0"/>
          <a:ext cx="0" cy="0"/>
          <a:chOff x="0" y="0"/>
          <a:chExt cx="0" cy="0"/>
        </a:xfrm>
      </p:grpSpPr>
      <p:sp>
        <p:nvSpPr>
          <p:cNvPr id="296" name="Google Shape;296;p37"/>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7"/>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8" name="Google Shape;298;p37"/>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9" name="Google Shape;299;p37"/>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0" name="Google Shape;300;p37"/>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1" name="Google Shape;301;p37"/>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2" name="Google Shape;302;p37"/>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03" name="Shape 303"/>
        <p:cNvGrpSpPr/>
        <p:nvPr/>
      </p:nvGrpSpPr>
      <p:grpSpPr>
        <a:xfrm>
          <a:off x="0" y="0"/>
          <a:ext cx="0" cy="0"/>
          <a:chOff x="0" y="0"/>
          <a:chExt cx="0" cy="0"/>
        </a:xfrm>
      </p:grpSpPr>
      <p:sp>
        <p:nvSpPr>
          <p:cNvPr id="304" name="Google Shape;304;p38"/>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38"/>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38"/>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38"/>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38"/>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9" name="Google Shape;309;p38"/>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38"/>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38"/>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2" name="Google Shape;312;p38"/>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5" name="Google Shape;315;p3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16" name="Shape 316"/>
        <p:cNvGrpSpPr/>
        <p:nvPr/>
      </p:nvGrpSpPr>
      <p:grpSpPr>
        <a:xfrm>
          <a:off x="0" y="0"/>
          <a:ext cx="0" cy="0"/>
          <a:chOff x="0" y="0"/>
          <a:chExt cx="0" cy="0"/>
        </a:xfrm>
      </p:grpSpPr>
      <p:sp>
        <p:nvSpPr>
          <p:cNvPr id="317" name="Google Shape;317;p40"/>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8" name="Google Shape;318;p40"/>
          <p:cNvSpPr/>
          <p:nvPr>
            <p:ph idx="2" type="pic"/>
          </p:nvPr>
        </p:nvSpPr>
        <p:spPr>
          <a:xfrm>
            <a:off x="4804825" y="1133300"/>
            <a:ext cx="4027500" cy="2392800"/>
          </a:xfrm>
          <a:prstGeom prst="rect">
            <a:avLst/>
          </a:prstGeom>
          <a:noFill/>
          <a:ln>
            <a:noFill/>
          </a:ln>
        </p:spPr>
      </p:sp>
      <p:sp>
        <p:nvSpPr>
          <p:cNvPr id="319" name="Google Shape;319;p40"/>
          <p:cNvSpPr/>
          <p:nvPr>
            <p:ph idx="3" type="pic"/>
          </p:nvPr>
        </p:nvSpPr>
        <p:spPr>
          <a:xfrm>
            <a:off x="311725" y="1133300"/>
            <a:ext cx="4027500" cy="2392800"/>
          </a:xfrm>
          <a:prstGeom prst="rect">
            <a:avLst/>
          </a:prstGeom>
          <a:noFill/>
          <a:ln>
            <a:noFill/>
          </a:ln>
        </p:spPr>
      </p:sp>
      <p:sp>
        <p:nvSpPr>
          <p:cNvPr id="320" name="Google Shape;320;p40"/>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1" name="Google Shape;321;p4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22" name="Google Shape;322;p40"/>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3" name="Google Shape;323;p40"/>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24" name="Shape 324"/>
        <p:cNvGrpSpPr/>
        <p:nvPr/>
      </p:nvGrpSpPr>
      <p:grpSpPr>
        <a:xfrm>
          <a:off x="0" y="0"/>
          <a:ext cx="0" cy="0"/>
          <a:chOff x="0" y="0"/>
          <a:chExt cx="0" cy="0"/>
        </a:xfrm>
      </p:grpSpPr>
      <p:sp>
        <p:nvSpPr>
          <p:cNvPr id="325" name="Google Shape;325;p41"/>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6" name="Google Shape;326;p41"/>
          <p:cNvSpPr/>
          <p:nvPr>
            <p:ph idx="2" type="pic"/>
          </p:nvPr>
        </p:nvSpPr>
        <p:spPr>
          <a:xfrm>
            <a:off x="6205225" y="1128325"/>
            <a:ext cx="2627100" cy="2273100"/>
          </a:xfrm>
          <a:prstGeom prst="rect">
            <a:avLst/>
          </a:prstGeom>
          <a:noFill/>
          <a:ln>
            <a:noFill/>
          </a:ln>
        </p:spPr>
      </p:sp>
      <p:sp>
        <p:nvSpPr>
          <p:cNvPr id="327" name="Google Shape;327;p41"/>
          <p:cNvSpPr/>
          <p:nvPr>
            <p:ph idx="3" type="pic"/>
          </p:nvPr>
        </p:nvSpPr>
        <p:spPr>
          <a:xfrm>
            <a:off x="311725" y="1128325"/>
            <a:ext cx="2627100" cy="2273100"/>
          </a:xfrm>
          <a:prstGeom prst="rect">
            <a:avLst/>
          </a:prstGeom>
          <a:noFill/>
          <a:ln>
            <a:noFill/>
          </a:ln>
        </p:spPr>
      </p:sp>
      <p:sp>
        <p:nvSpPr>
          <p:cNvPr id="328" name="Google Shape;328;p41"/>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9" name="Google Shape;329;p41"/>
          <p:cNvSpPr/>
          <p:nvPr>
            <p:ph idx="5" type="pic"/>
          </p:nvPr>
        </p:nvSpPr>
        <p:spPr>
          <a:xfrm>
            <a:off x="3255250" y="1128325"/>
            <a:ext cx="2627100" cy="2273100"/>
          </a:xfrm>
          <a:prstGeom prst="rect">
            <a:avLst/>
          </a:prstGeom>
          <a:noFill/>
          <a:ln>
            <a:noFill/>
          </a:ln>
        </p:spPr>
      </p:sp>
      <p:sp>
        <p:nvSpPr>
          <p:cNvPr id="330" name="Google Shape;330;p41"/>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4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1"/>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3" name="Google Shape;333;p41"/>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4" name="Google Shape;334;p41"/>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35" name="Shape 335"/>
        <p:cNvGrpSpPr/>
        <p:nvPr/>
      </p:nvGrpSpPr>
      <p:grpSpPr>
        <a:xfrm>
          <a:off x="0" y="0"/>
          <a:ext cx="0" cy="0"/>
          <a:chOff x="0" y="0"/>
          <a:chExt cx="0" cy="0"/>
        </a:xfrm>
      </p:grpSpPr>
      <p:sp>
        <p:nvSpPr>
          <p:cNvPr id="336" name="Google Shape;336;p4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7" name="Shape 337"/>
        <p:cNvGrpSpPr/>
        <p:nvPr/>
      </p:nvGrpSpPr>
      <p:grpSpPr>
        <a:xfrm>
          <a:off x="0" y="0"/>
          <a:ext cx="0" cy="0"/>
          <a:chOff x="0" y="0"/>
          <a:chExt cx="0" cy="0"/>
        </a:xfrm>
      </p:grpSpPr>
      <p:sp>
        <p:nvSpPr>
          <p:cNvPr id="338" name="Google Shape;338;p43"/>
          <p:cNvSpPr/>
          <p:nvPr>
            <p:ph idx="2" type="pic"/>
          </p:nvPr>
        </p:nvSpPr>
        <p:spPr>
          <a:xfrm>
            <a:off x="3389600" y="118913"/>
            <a:ext cx="1643700" cy="1535100"/>
          </a:xfrm>
          <a:prstGeom prst="rect">
            <a:avLst/>
          </a:prstGeom>
          <a:noFill/>
          <a:ln>
            <a:noFill/>
          </a:ln>
        </p:spPr>
      </p:sp>
      <p:sp>
        <p:nvSpPr>
          <p:cNvPr id="339" name="Google Shape;339;p43"/>
          <p:cNvSpPr/>
          <p:nvPr>
            <p:ph idx="3" type="pic"/>
          </p:nvPr>
        </p:nvSpPr>
        <p:spPr>
          <a:xfrm>
            <a:off x="5195935" y="118913"/>
            <a:ext cx="1643700" cy="1535100"/>
          </a:xfrm>
          <a:prstGeom prst="rect">
            <a:avLst/>
          </a:prstGeom>
          <a:noFill/>
          <a:ln>
            <a:noFill/>
          </a:ln>
        </p:spPr>
      </p:sp>
      <p:sp>
        <p:nvSpPr>
          <p:cNvPr id="340" name="Google Shape;340;p43"/>
          <p:cNvSpPr/>
          <p:nvPr>
            <p:ph idx="4" type="pic"/>
          </p:nvPr>
        </p:nvSpPr>
        <p:spPr>
          <a:xfrm>
            <a:off x="7002270" y="118913"/>
            <a:ext cx="1643700" cy="1535100"/>
          </a:xfrm>
          <a:prstGeom prst="rect">
            <a:avLst/>
          </a:prstGeom>
          <a:noFill/>
          <a:ln>
            <a:noFill/>
          </a:ln>
        </p:spPr>
      </p:sp>
      <p:sp>
        <p:nvSpPr>
          <p:cNvPr id="341" name="Google Shape;341;p43"/>
          <p:cNvSpPr/>
          <p:nvPr>
            <p:ph idx="5" type="pic"/>
          </p:nvPr>
        </p:nvSpPr>
        <p:spPr>
          <a:xfrm>
            <a:off x="3389588" y="1804212"/>
            <a:ext cx="1643700" cy="1535100"/>
          </a:xfrm>
          <a:prstGeom prst="rect">
            <a:avLst/>
          </a:prstGeom>
          <a:noFill/>
          <a:ln>
            <a:noFill/>
          </a:ln>
        </p:spPr>
      </p:sp>
      <p:sp>
        <p:nvSpPr>
          <p:cNvPr id="342" name="Google Shape;342;p43"/>
          <p:cNvSpPr/>
          <p:nvPr>
            <p:ph idx="6" type="pic"/>
          </p:nvPr>
        </p:nvSpPr>
        <p:spPr>
          <a:xfrm>
            <a:off x="5195922" y="1804212"/>
            <a:ext cx="1643700" cy="1535100"/>
          </a:xfrm>
          <a:prstGeom prst="rect">
            <a:avLst/>
          </a:prstGeom>
          <a:noFill/>
          <a:ln>
            <a:noFill/>
          </a:ln>
        </p:spPr>
      </p:sp>
      <p:sp>
        <p:nvSpPr>
          <p:cNvPr id="343" name="Google Shape;343;p43"/>
          <p:cNvSpPr/>
          <p:nvPr>
            <p:ph idx="7" type="pic"/>
          </p:nvPr>
        </p:nvSpPr>
        <p:spPr>
          <a:xfrm>
            <a:off x="7002257" y="1804212"/>
            <a:ext cx="1643700" cy="1535100"/>
          </a:xfrm>
          <a:prstGeom prst="rect">
            <a:avLst/>
          </a:prstGeom>
          <a:noFill/>
          <a:ln>
            <a:noFill/>
          </a:ln>
        </p:spPr>
      </p:sp>
      <p:sp>
        <p:nvSpPr>
          <p:cNvPr id="344" name="Google Shape;344;p43"/>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5" name="Google Shape;345;p43"/>
          <p:cNvSpPr/>
          <p:nvPr>
            <p:ph idx="8" type="pic"/>
          </p:nvPr>
        </p:nvSpPr>
        <p:spPr>
          <a:xfrm>
            <a:off x="3389588" y="3489487"/>
            <a:ext cx="1643700" cy="1535100"/>
          </a:xfrm>
          <a:prstGeom prst="rect">
            <a:avLst/>
          </a:prstGeom>
          <a:noFill/>
          <a:ln>
            <a:noFill/>
          </a:ln>
        </p:spPr>
      </p:sp>
      <p:sp>
        <p:nvSpPr>
          <p:cNvPr id="346" name="Google Shape;346;p43"/>
          <p:cNvSpPr/>
          <p:nvPr>
            <p:ph idx="9" type="pic"/>
          </p:nvPr>
        </p:nvSpPr>
        <p:spPr>
          <a:xfrm>
            <a:off x="5195922" y="3489487"/>
            <a:ext cx="1643700" cy="1535100"/>
          </a:xfrm>
          <a:prstGeom prst="rect">
            <a:avLst/>
          </a:prstGeom>
          <a:noFill/>
          <a:ln>
            <a:noFill/>
          </a:ln>
        </p:spPr>
      </p:sp>
      <p:sp>
        <p:nvSpPr>
          <p:cNvPr id="347" name="Google Shape;347;p4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2.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7" name="Google Shape;7;p1"/>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mc:AlternateContent>
    <mc:Choice Requires="p14">
      <p:transition spd="med" p14:dur="600">
        <p:push/>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hyperlink" Target="https://www.journalofaccountancy.com/news/2015/sep/financial-literacy-skills-201512981/" TargetMode="External"/><Relationship Id="rId4" Type="http://schemas.openxmlformats.org/officeDocument/2006/relationships/hyperlink" Target="https://everfi.com/resources/white-paper/money-matters-on-campus-repor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4"/>
          <p:cNvSpPr txBox="1"/>
          <p:nvPr>
            <p:ph idx="1" type="subTitle"/>
          </p:nvPr>
        </p:nvSpPr>
        <p:spPr>
          <a:xfrm>
            <a:off x="821004" y="2973850"/>
            <a:ext cx="58593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sz="1600"/>
              <a:t>By </a:t>
            </a:r>
            <a:r>
              <a:rPr lang="en" sz="1600"/>
              <a:t>Joshua Purushothaman, </a:t>
            </a:r>
            <a:r>
              <a:rPr lang="en" sz="1600"/>
              <a:t>Jorge Agueros, Aldo Carmona, Rohan Cheruku, Zunaira Firdous, Tejas Ramanujam, Varun Saravanan</a:t>
            </a:r>
            <a:endParaRPr sz="1600"/>
          </a:p>
        </p:txBody>
      </p:sp>
      <p:sp>
        <p:nvSpPr>
          <p:cNvPr id="353" name="Google Shape;353;p44"/>
          <p:cNvSpPr txBox="1"/>
          <p:nvPr>
            <p:ph type="title"/>
          </p:nvPr>
        </p:nvSpPr>
        <p:spPr>
          <a:xfrm>
            <a:off x="795525" y="1252675"/>
            <a:ext cx="6772200" cy="145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UniWallet Banking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5"/>
          <p:cNvSpPr txBox="1"/>
          <p:nvPr>
            <p:ph idx="1" type="subTitle"/>
          </p:nvPr>
        </p:nvSpPr>
        <p:spPr>
          <a:xfrm>
            <a:off x="405250" y="1456700"/>
            <a:ext cx="8328300" cy="3208200"/>
          </a:xfrm>
          <a:prstGeom prst="rect">
            <a:avLst/>
          </a:prstGeom>
        </p:spPr>
        <p:txBody>
          <a:bodyPr anchorCtr="0" anchor="t" bIns="91425" lIns="91425" spcFirstLastPara="1" rIns="0" wrap="square" tIns="91425">
            <a:noAutofit/>
          </a:bodyPr>
          <a:lstStyle/>
          <a:p>
            <a:pPr indent="0" lvl="0" marL="0" rtl="0" algn="l">
              <a:spcBef>
                <a:spcPts val="0"/>
              </a:spcBef>
              <a:spcAft>
                <a:spcPts val="0"/>
              </a:spcAft>
              <a:buNone/>
            </a:pPr>
            <a:r>
              <a:rPr lang="en" sz="1700"/>
              <a:t>1. </a:t>
            </a:r>
            <a:r>
              <a:rPr b="1" lang="en" sz="1700"/>
              <a:t>Improve Financial Confidence &amp; Literacy:</a:t>
            </a:r>
            <a:r>
              <a:rPr lang="en" sz="1700"/>
              <a:t> Nearly 47% of college students say they don’t feel prepared to manage their money, according to a survey of 30,000 students.</a:t>
            </a:r>
            <a:endParaRPr sz="1700"/>
          </a:p>
          <a:p>
            <a:pPr indent="0" lvl="0" marL="0" rtl="0" algn="l">
              <a:spcBef>
                <a:spcPts val="0"/>
              </a:spcBef>
              <a:spcAft>
                <a:spcPts val="0"/>
              </a:spcAft>
              <a:buNone/>
            </a:pPr>
            <a:r>
              <a:t/>
            </a:r>
            <a:endParaRPr sz="1700"/>
          </a:p>
          <a:p>
            <a:pPr indent="0" lvl="0" marL="0" rtl="0" algn="l">
              <a:spcBef>
                <a:spcPts val="0"/>
              </a:spcBef>
              <a:spcAft>
                <a:spcPts val="0"/>
              </a:spcAft>
              <a:buClr>
                <a:schemeClr val="lt1"/>
              </a:buClr>
              <a:buSzPts val="1100"/>
              <a:buFont typeface="Arial"/>
              <a:buNone/>
            </a:pPr>
            <a:r>
              <a:rPr lang="en" sz="1700"/>
              <a:t>2. </a:t>
            </a:r>
            <a:r>
              <a:rPr b="1" lang="en" sz="1700"/>
              <a:t>Encourage Better Budgeting Habits:</a:t>
            </a:r>
            <a:r>
              <a:rPr lang="en" sz="1700"/>
              <a:t> Only 39% of students stick to a monthly budget, despite many rating their financial skills as “good” or “excellent.”</a:t>
            </a:r>
            <a:endParaRPr sz="1700"/>
          </a:p>
          <a:p>
            <a:pPr indent="0" lvl="0" marL="0" rtl="0" algn="l">
              <a:spcBef>
                <a:spcPts val="0"/>
              </a:spcBef>
              <a:spcAft>
                <a:spcPts val="0"/>
              </a:spcAft>
              <a:buNone/>
            </a:pPr>
            <a:r>
              <a:t/>
            </a:r>
            <a:endParaRPr sz="1700"/>
          </a:p>
          <a:p>
            <a:pPr indent="0" lvl="0" marL="0" rtl="0" algn="l">
              <a:spcBef>
                <a:spcPts val="0"/>
              </a:spcBef>
              <a:spcAft>
                <a:spcPts val="0"/>
              </a:spcAft>
              <a:buClr>
                <a:schemeClr val="lt1"/>
              </a:buClr>
              <a:buSzPts val="1100"/>
              <a:buFont typeface="Arial"/>
              <a:buNone/>
            </a:pPr>
            <a:r>
              <a:rPr lang="en" sz="1700"/>
              <a:t>3. </a:t>
            </a:r>
            <a:r>
              <a:rPr b="1" lang="en" sz="1700"/>
              <a:t>Reduce Financial Stress &amp; Risky Debt Behaviors: </a:t>
            </a:r>
            <a:r>
              <a:rPr lang="en" sz="1700"/>
              <a:t>More than half of Gen Z students (53%) report that money management is their most daunting challenge, and only about half (51%) plan to pay off credit card bills in full.</a:t>
            </a:r>
            <a:endParaRPr sz="1700"/>
          </a:p>
          <a:p>
            <a:pPr indent="0" lvl="0" marL="0" rtl="0" algn="l">
              <a:spcBef>
                <a:spcPts val="0"/>
              </a:spcBef>
              <a:spcAft>
                <a:spcPts val="0"/>
              </a:spcAft>
              <a:buNone/>
            </a:pPr>
            <a:r>
              <a:t/>
            </a:r>
            <a:endParaRPr sz="1700"/>
          </a:p>
        </p:txBody>
      </p:sp>
      <p:sp>
        <p:nvSpPr>
          <p:cNvPr id="359" name="Google Shape;359;p45"/>
          <p:cNvSpPr txBox="1"/>
          <p:nvPr>
            <p:ph type="title"/>
          </p:nvPr>
        </p:nvSpPr>
        <p:spPr>
          <a:xfrm>
            <a:off x="277500" y="277500"/>
            <a:ext cx="8000100" cy="807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Objective</a:t>
            </a:r>
            <a:endParaRPr/>
          </a:p>
        </p:txBody>
      </p:sp>
      <p:sp>
        <p:nvSpPr>
          <p:cNvPr id="360" name="Google Shape;360;p4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6"/>
          <p:cNvSpPr txBox="1"/>
          <p:nvPr>
            <p:ph idx="1" type="subTitle"/>
          </p:nvPr>
        </p:nvSpPr>
        <p:spPr>
          <a:xfrm>
            <a:off x="405250" y="1456700"/>
            <a:ext cx="8328300" cy="3355200"/>
          </a:xfrm>
          <a:prstGeom prst="rect">
            <a:avLst/>
          </a:prstGeom>
        </p:spPr>
        <p:txBody>
          <a:bodyPr anchorCtr="0" anchor="t" bIns="91425" lIns="91425" spcFirstLastPara="1" rIns="0" wrap="square" tIns="91425">
            <a:noAutofit/>
          </a:bodyPr>
          <a:lstStyle/>
          <a:p>
            <a:pPr indent="0" lvl="0" marL="0" rtl="0" algn="l">
              <a:spcBef>
                <a:spcPts val="0"/>
              </a:spcBef>
              <a:spcAft>
                <a:spcPts val="0"/>
              </a:spcAft>
              <a:buNone/>
            </a:pPr>
            <a:r>
              <a:rPr lang="en" sz="1700"/>
              <a:t>Hardware Costs: 						   Software Costs:</a:t>
            </a:r>
            <a:endParaRPr sz="1700"/>
          </a:p>
          <a:p>
            <a:pPr indent="0" lvl="0" marL="0" rtl="0" algn="l">
              <a:spcBef>
                <a:spcPts val="0"/>
              </a:spcBef>
              <a:spcAft>
                <a:spcPts val="0"/>
              </a:spcAft>
              <a:buNone/>
            </a:pPr>
            <a:r>
              <a:t/>
            </a:r>
            <a:endParaRPr sz="1700"/>
          </a:p>
        </p:txBody>
      </p:sp>
      <p:sp>
        <p:nvSpPr>
          <p:cNvPr id="366" name="Google Shape;366;p46"/>
          <p:cNvSpPr txBox="1"/>
          <p:nvPr>
            <p:ph type="title"/>
          </p:nvPr>
        </p:nvSpPr>
        <p:spPr>
          <a:xfrm>
            <a:off x="277500" y="277500"/>
            <a:ext cx="8000100" cy="807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Cost Estimation</a:t>
            </a:r>
            <a:endParaRPr/>
          </a:p>
        </p:txBody>
      </p:sp>
      <p:sp>
        <p:nvSpPr>
          <p:cNvPr id="367" name="Google Shape;367;p4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368" name="Google Shape;368;p46"/>
          <p:cNvPicPr preferRelativeResize="0"/>
          <p:nvPr/>
        </p:nvPicPr>
        <p:blipFill rotWithShape="1">
          <a:blip r:embed="rId3">
            <a:alphaModFix amt="10000"/>
          </a:blip>
          <a:srcRect b="19824" l="1069" r="80230" t="14704"/>
          <a:stretch/>
        </p:blipFill>
        <p:spPr>
          <a:xfrm>
            <a:off x="280800" y="1428675"/>
            <a:ext cx="4227900" cy="3355200"/>
          </a:xfrm>
          <a:prstGeom prst="roundRect">
            <a:avLst>
              <a:gd fmla="val 9898" name="adj"/>
            </a:avLst>
          </a:prstGeom>
          <a:noFill/>
          <a:ln>
            <a:noFill/>
          </a:ln>
        </p:spPr>
      </p:pic>
      <p:pic>
        <p:nvPicPr>
          <p:cNvPr id="369" name="Google Shape;369;p46"/>
          <p:cNvPicPr preferRelativeResize="0"/>
          <p:nvPr/>
        </p:nvPicPr>
        <p:blipFill rotWithShape="1">
          <a:blip r:embed="rId3">
            <a:alphaModFix amt="10000"/>
          </a:blip>
          <a:srcRect b="19824" l="1069" r="80230" t="14704"/>
          <a:stretch/>
        </p:blipFill>
        <p:spPr>
          <a:xfrm>
            <a:off x="4638650" y="1394700"/>
            <a:ext cx="4227900" cy="3355200"/>
          </a:xfrm>
          <a:prstGeom prst="roundRect">
            <a:avLst>
              <a:gd fmla="val 9898" name="adj"/>
            </a:avLst>
          </a:prstGeom>
          <a:noFill/>
          <a:ln>
            <a:noFill/>
          </a:ln>
        </p:spPr>
      </p:pic>
      <p:pic>
        <p:nvPicPr>
          <p:cNvPr id="370" name="Google Shape;370;p46"/>
          <p:cNvPicPr preferRelativeResize="0"/>
          <p:nvPr/>
        </p:nvPicPr>
        <p:blipFill>
          <a:blip r:embed="rId4">
            <a:alphaModFix/>
          </a:blip>
          <a:stretch>
            <a:fillRect/>
          </a:stretch>
        </p:blipFill>
        <p:spPr>
          <a:xfrm>
            <a:off x="4772649" y="1897201"/>
            <a:ext cx="3896176" cy="2253275"/>
          </a:xfrm>
          <a:prstGeom prst="rect">
            <a:avLst/>
          </a:prstGeom>
          <a:noFill/>
          <a:ln>
            <a:noFill/>
          </a:ln>
        </p:spPr>
      </p:pic>
      <p:pic>
        <p:nvPicPr>
          <p:cNvPr id="371" name="Google Shape;371;p46"/>
          <p:cNvPicPr preferRelativeResize="0"/>
          <p:nvPr/>
        </p:nvPicPr>
        <p:blipFill>
          <a:blip r:embed="rId5">
            <a:alphaModFix/>
          </a:blip>
          <a:stretch>
            <a:fillRect/>
          </a:stretch>
        </p:blipFill>
        <p:spPr>
          <a:xfrm>
            <a:off x="405249" y="1897199"/>
            <a:ext cx="4024101" cy="211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7"/>
          <p:cNvSpPr txBox="1"/>
          <p:nvPr>
            <p:ph type="title"/>
          </p:nvPr>
        </p:nvSpPr>
        <p:spPr>
          <a:xfrm>
            <a:off x="277500" y="277500"/>
            <a:ext cx="8000100" cy="807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Cost Estimation</a:t>
            </a:r>
            <a:endParaRPr/>
          </a:p>
        </p:txBody>
      </p:sp>
      <p:sp>
        <p:nvSpPr>
          <p:cNvPr id="377" name="Google Shape;377;p4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378" name="Google Shape;378;p47"/>
          <p:cNvPicPr preferRelativeResize="0"/>
          <p:nvPr/>
        </p:nvPicPr>
        <p:blipFill rotWithShape="1">
          <a:blip r:embed="rId3">
            <a:alphaModFix amt="10000"/>
          </a:blip>
          <a:srcRect b="19824" l="1069" r="80230" t="14704"/>
          <a:stretch/>
        </p:blipFill>
        <p:spPr>
          <a:xfrm>
            <a:off x="277500" y="1394700"/>
            <a:ext cx="8452800" cy="3355200"/>
          </a:xfrm>
          <a:prstGeom prst="roundRect">
            <a:avLst>
              <a:gd fmla="val 9898" name="adj"/>
            </a:avLst>
          </a:prstGeom>
          <a:noFill/>
          <a:ln>
            <a:noFill/>
          </a:ln>
        </p:spPr>
      </p:pic>
      <p:sp>
        <p:nvSpPr>
          <p:cNvPr id="379" name="Google Shape;379;p47"/>
          <p:cNvSpPr txBox="1"/>
          <p:nvPr>
            <p:ph idx="1" type="subTitle"/>
          </p:nvPr>
        </p:nvSpPr>
        <p:spPr>
          <a:xfrm>
            <a:off x="405250" y="1456700"/>
            <a:ext cx="8328300" cy="3355200"/>
          </a:xfrm>
          <a:prstGeom prst="rect">
            <a:avLst/>
          </a:prstGeom>
        </p:spPr>
        <p:txBody>
          <a:bodyPr anchorCtr="0" anchor="t" bIns="91425" lIns="91425" spcFirstLastPara="1" rIns="0" wrap="square" tIns="91425">
            <a:noAutofit/>
          </a:bodyPr>
          <a:lstStyle/>
          <a:p>
            <a:pPr indent="0" lvl="0" marL="0" rtl="0" algn="l">
              <a:spcBef>
                <a:spcPts val="0"/>
              </a:spcBef>
              <a:spcAft>
                <a:spcPts val="0"/>
              </a:spcAft>
              <a:buNone/>
            </a:pPr>
            <a:r>
              <a:rPr lang="en" sz="1700"/>
              <a:t>Function Point Algorithmic Estimation: </a:t>
            </a:r>
            <a:endParaRPr sz="1700"/>
          </a:p>
          <a:p>
            <a:pPr indent="-336550" lvl="0" marL="457200" rtl="0" algn="l">
              <a:spcBef>
                <a:spcPts val="0"/>
              </a:spcBef>
              <a:spcAft>
                <a:spcPts val="0"/>
              </a:spcAft>
              <a:buSzPts val="1700"/>
              <a:buChar char="●"/>
            </a:pPr>
            <a:r>
              <a:rPr lang="en" sz="1700"/>
              <a:t>Effort Estimation: 448 FP / 10 Productivity ≈ 44.8 person-months.</a:t>
            </a:r>
            <a:endParaRPr sz="1700"/>
          </a:p>
          <a:p>
            <a:pPr indent="-336550" lvl="0" marL="457200" rtl="0" algn="l">
              <a:spcBef>
                <a:spcPts val="0"/>
              </a:spcBef>
              <a:spcAft>
                <a:spcPts val="0"/>
              </a:spcAft>
              <a:buSzPts val="1700"/>
              <a:buChar char="●"/>
            </a:pPr>
            <a:r>
              <a:rPr lang="en" sz="1700"/>
              <a:t>Project Duration: 44.8 person-months / 15 developers ≈ 12 weeks.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Personnel Costs:</a:t>
            </a:r>
            <a:endParaRPr sz="1700"/>
          </a:p>
          <a:p>
            <a:pPr indent="-336550" lvl="0" marL="457200" rtl="0" algn="l">
              <a:spcBef>
                <a:spcPts val="0"/>
              </a:spcBef>
              <a:spcAft>
                <a:spcPts val="0"/>
              </a:spcAft>
              <a:buSzPts val="1700"/>
              <a:buChar char="-"/>
            </a:pPr>
            <a:r>
              <a:rPr lang="en" sz="1700"/>
              <a:t>Developer Cost:</a:t>
            </a:r>
            <a:endParaRPr sz="1700"/>
          </a:p>
          <a:p>
            <a:pPr indent="-336550" lvl="1" marL="914400" rtl="0" algn="l">
              <a:spcBef>
                <a:spcPts val="0"/>
              </a:spcBef>
              <a:spcAft>
                <a:spcPts val="0"/>
              </a:spcAft>
              <a:buSzPts val="1700"/>
              <a:buChar char="-"/>
            </a:pPr>
            <a:r>
              <a:rPr lang="en" sz="1700"/>
              <a:t>Pay rate: $35/hour</a:t>
            </a:r>
            <a:endParaRPr sz="1700"/>
          </a:p>
          <a:p>
            <a:pPr indent="-336550" lvl="1" marL="914400" rtl="0" algn="l">
              <a:spcBef>
                <a:spcPts val="0"/>
              </a:spcBef>
              <a:spcAft>
                <a:spcPts val="0"/>
              </a:spcAft>
              <a:buSzPts val="1700"/>
              <a:buChar char="-"/>
            </a:pPr>
            <a:r>
              <a:rPr lang="en" sz="1700"/>
              <a:t>Work duration: 60 days × 8 hours/day = 480 hours per developer</a:t>
            </a:r>
            <a:endParaRPr sz="1700"/>
          </a:p>
          <a:p>
            <a:pPr indent="-336550" lvl="1" marL="914400" rtl="0" algn="l">
              <a:spcBef>
                <a:spcPts val="0"/>
              </a:spcBef>
              <a:spcAft>
                <a:spcPts val="0"/>
              </a:spcAft>
              <a:buSzPts val="1700"/>
              <a:buChar char="-"/>
            </a:pPr>
            <a:r>
              <a:rPr lang="en" sz="1700"/>
              <a:t>Cost per developer: 480 × $35 = $16,800</a:t>
            </a:r>
            <a:endParaRPr sz="1700"/>
          </a:p>
          <a:p>
            <a:pPr indent="-336550" lvl="1" marL="914400" rtl="0" algn="l">
              <a:spcBef>
                <a:spcPts val="0"/>
              </a:spcBef>
              <a:spcAft>
                <a:spcPts val="0"/>
              </a:spcAft>
              <a:buSzPts val="1700"/>
              <a:buChar char="-"/>
            </a:pPr>
            <a:r>
              <a:rPr lang="en" sz="1700"/>
              <a:t>Team of 15 developers: 15 × $16,800 = </a:t>
            </a:r>
            <a:r>
              <a:rPr b="1" lang="en" sz="1700"/>
              <a:t>$252,000</a:t>
            </a:r>
            <a:endParaRPr b="1" sz="1700"/>
          </a:p>
          <a:p>
            <a:pPr indent="-336550" lvl="0" marL="457200" rtl="0" algn="l">
              <a:spcBef>
                <a:spcPts val="0"/>
              </a:spcBef>
              <a:spcAft>
                <a:spcPts val="0"/>
              </a:spcAft>
              <a:buSzPts val="1700"/>
              <a:buChar char="-"/>
            </a:pPr>
            <a:r>
              <a:rPr lang="en" sz="1700"/>
              <a:t>Training Cost</a:t>
            </a:r>
            <a:endParaRPr sz="1700"/>
          </a:p>
          <a:p>
            <a:pPr indent="-336550" lvl="1" marL="914400" rtl="0" algn="l">
              <a:spcBef>
                <a:spcPts val="0"/>
              </a:spcBef>
              <a:spcAft>
                <a:spcPts val="0"/>
              </a:spcAft>
              <a:buSzPts val="1700"/>
              <a:buChar char="-"/>
            </a:pPr>
            <a:r>
              <a:rPr lang="en" sz="1700"/>
              <a:t>4 trainees × 50 hours × $20/hour = </a:t>
            </a:r>
            <a:r>
              <a:rPr b="1" lang="en" sz="1700"/>
              <a:t>$4,000</a:t>
            </a:r>
            <a:endParaRPr b="1" sz="1700"/>
          </a:p>
          <a:p>
            <a:pPr indent="0" lvl="0" marL="0" rtl="0" algn="l">
              <a:spcBef>
                <a:spcPts val="0"/>
              </a:spcBef>
              <a:spcAft>
                <a:spcPts val="0"/>
              </a:spcAft>
              <a:buClr>
                <a:schemeClr val="lt1"/>
              </a:buClr>
              <a:buSzPts val="1100"/>
              <a:buFont typeface="Arial"/>
              <a:buNone/>
            </a:pPr>
            <a:r>
              <a:t/>
            </a:r>
            <a:endParaRPr sz="1700"/>
          </a:p>
          <a:p>
            <a:pPr indent="0" lvl="0" marL="0" rtl="0" algn="l">
              <a:spcBef>
                <a:spcPts val="0"/>
              </a:spcBef>
              <a:spcAft>
                <a:spcPts val="0"/>
              </a:spcAft>
              <a:buNone/>
            </a:pPr>
            <a:r>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48"/>
          <p:cNvPicPr preferRelativeResize="0"/>
          <p:nvPr/>
        </p:nvPicPr>
        <p:blipFill rotWithShape="1">
          <a:blip r:embed="rId3">
            <a:alphaModFix/>
          </a:blip>
          <a:srcRect b="0" l="27373" r="49201" t="0"/>
          <a:stretch/>
        </p:blipFill>
        <p:spPr>
          <a:xfrm>
            <a:off x="7628150" y="3054333"/>
            <a:ext cx="1103400" cy="1805700"/>
          </a:xfrm>
          <a:prstGeom prst="roundRect">
            <a:avLst>
              <a:gd fmla="val 6614" name="adj"/>
            </a:avLst>
          </a:prstGeom>
          <a:noFill/>
          <a:ln>
            <a:noFill/>
          </a:ln>
        </p:spPr>
      </p:pic>
      <p:pic>
        <p:nvPicPr>
          <p:cNvPr id="385" name="Google Shape;385;p48"/>
          <p:cNvPicPr preferRelativeResize="0"/>
          <p:nvPr/>
        </p:nvPicPr>
        <p:blipFill rotWithShape="1">
          <a:blip r:embed="rId3">
            <a:alphaModFix/>
          </a:blip>
          <a:srcRect b="0" l="27373" r="49201" t="0"/>
          <a:stretch/>
        </p:blipFill>
        <p:spPr>
          <a:xfrm>
            <a:off x="6187162" y="3054333"/>
            <a:ext cx="1103400" cy="1805700"/>
          </a:xfrm>
          <a:prstGeom prst="roundRect">
            <a:avLst>
              <a:gd fmla="val 6614" name="adj"/>
            </a:avLst>
          </a:prstGeom>
          <a:noFill/>
          <a:ln>
            <a:noFill/>
          </a:ln>
        </p:spPr>
      </p:pic>
      <p:pic>
        <p:nvPicPr>
          <p:cNvPr id="386" name="Google Shape;386;p48"/>
          <p:cNvPicPr preferRelativeResize="0"/>
          <p:nvPr/>
        </p:nvPicPr>
        <p:blipFill rotWithShape="1">
          <a:blip r:embed="rId3">
            <a:alphaModFix/>
          </a:blip>
          <a:srcRect b="0" l="27373" r="49201" t="0"/>
          <a:stretch/>
        </p:blipFill>
        <p:spPr>
          <a:xfrm>
            <a:off x="4746200" y="3054333"/>
            <a:ext cx="1103400" cy="1805700"/>
          </a:xfrm>
          <a:prstGeom prst="roundRect">
            <a:avLst>
              <a:gd fmla="val 6614" name="adj"/>
            </a:avLst>
          </a:prstGeom>
          <a:noFill/>
          <a:ln>
            <a:noFill/>
          </a:ln>
        </p:spPr>
      </p:pic>
      <p:pic>
        <p:nvPicPr>
          <p:cNvPr id="387" name="Google Shape;387;p48"/>
          <p:cNvPicPr preferRelativeResize="0"/>
          <p:nvPr/>
        </p:nvPicPr>
        <p:blipFill rotWithShape="1">
          <a:blip r:embed="rId3">
            <a:alphaModFix/>
          </a:blip>
          <a:srcRect b="0" l="27373" r="49201" t="0"/>
          <a:stretch/>
        </p:blipFill>
        <p:spPr>
          <a:xfrm>
            <a:off x="3305250" y="3054333"/>
            <a:ext cx="1103400" cy="1805700"/>
          </a:xfrm>
          <a:prstGeom prst="roundRect">
            <a:avLst>
              <a:gd fmla="val 6614" name="adj"/>
            </a:avLst>
          </a:prstGeom>
          <a:noFill/>
          <a:ln>
            <a:noFill/>
          </a:ln>
        </p:spPr>
      </p:pic>
      <p:pic>
        <p:nvPicPr>
          <p:cNvPr id="388" name="Google Shape;388;p48"/>
          <p:cNvPicPr preferRelativeResize="0"/>
          <p:nvPr/>
        </p:nvPicPr>
        <p:blipFill rotWithShape="1">
          <a:blip r:embed="rId3">
            <a:alphaModFix/>
          </a:blip>
          <a:srcRect b="0" l="27373" r="49201" t="0"/>
          <a:stretch/>
        </p:blipFill>
        <p:spPr>
          <a:xfrm>
            <a:off x="1864262" y="2983158"/>
            <a:ext cx="1103400" cy="1805700"/>
          </a:xfrm>
          <a:prstGeom prst="roundRect">
            <a:avLst>
              <a:gd fmla="val 6614" name="adj"/>
            </a:avLst>
          </a:prstGeom>
          <a:noFill/>
          <a:ln>
            <a:noFill/>
          </a:ln>
        </p:spPr>
      </p:pic>
      <p:pic>
        <p:nvPicPr>
          <p:cNvPr id="389" name="Google Shape;389;p48"/>
          <p:cNvPicPr preferRelativeResize="0"/>
          <p:nvPr/>
        </p:nvPicPr>
        <p:blipFill rotWithShape="1">
          <a:blip r:embed="rId3">
            <a:alphaModFix/>
          </a:blip>
          <a:srcRect b="0" l="27373" r="49201" t="0"/>
          <a:stretch/>
        </p:blipFill>
        <p:spPr>
          <a:xfrm>
            <a:off x="425137" y="2955708"/>
            <a:ext cx="1103400" cy="1805700"/>
          </a:xfrm>
          <a:prstGeom prst="roundRect">
            <a:avLst>
              <a:gd fmla="val 6614" name="adj"/>
            </a:avLst>
          </a:prstGeom>
          <a:noFill/>
          <a:ln>
            <a:noFill/>
          </a:ln>
        </p:spPr>
      </p:pic>
      <p:sp>
        <p:nvSpPr>
          <p:cNvPr id="390" name="Google Shape;390;p48"/>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Project Timeline</a:t>
            </a:r>
            <a:endParaRPr/>
          </a:p>
        </p:txBody>
      </p:sp>
      <p:cxnSp>
        <p:nvCxnSpPr>
          <p:cNvPr descr="A timeline stretching across several years. " id="391" name="Google Shape;391;p48"/>
          <p:cNvCxnSpPr/>
          <p:nvPr/>
        </p:nvCxnSpPr>
        <p:spPr>
          <a:xfrm>
            <a:off x="282300" y="2869750"/>
            <a:ext cx="8579400" cy="0"/>
          </a:xfrm>
          <a:prstGeom prst="straightConnector1">
            <a:avLst/>
          </a:prstGeom>
          <a:noFill/>
          <a:ln cap="flat" cmpd="sng" w="9525">
            <a:solidFill>
              <a:schemeClr val="dk1"/>
            </a:solidFill>
            <a:prstDash val="solid"/>
            <a:round/>
            <a:headEnd len="med" w="med" type="oval"/>
            <a:tailEnd len="med" w="med" type="oval"/>
          </a:ln>
        </p:spPr>
      </p:cxnSp>
      <p:sp>
        <p:nvSpPr>
          <p:cNvPr id="392" name="Google Shape;392;p48"/>
          <p:cNvSpPr txBox="1"/>
          <p:nvPr/>
        </p:nvSpPr>
        <p:spPr>
          <a:xfrm>
            <a:off x="282300" y="3176350"/>
            <a:ext cx="1385400" cy="1364400"/>
          </a:xfrm>
          <a:prstGeom prst="rect">
            <a:avLst/>
          </a:prstGeom>
          <a:noFill/>
          <a:ln>
            <a:noFill/>
          </a:ln>
        </p:spPr>
        <p:txBody>
          <a:bodyPr anchorCtr="0" anchor="t" bIns="0" lIns="137150" spcFirstLastPara="1" rIns="137150" wrap="square" tIns="0">
            <a:noAutofit/>
          </a:bodyPr>
          <a:lstStyle/>
          <a:p>
            <a:pPr indent="0" lvl="0" marL="0" rtl="0" algn="ctr">
              <a:lnSpc>
                <a:spcPct val="115000"/>
              </a:lnSpc>
              <a:spcBef>
                <a:spcPts val="0"/>
              </a:spcBef>
              <a:spcAft>
                <a:spcPts val="0"/>
              </a:spcAft>
              <a:buClr>
                <a:srgbClr val="000000"/>
              </a:buClr>
              <a:buSzPts val="1100"/>
              <a:buFont typeface="Arial"/>
              <a:buNone/>
            </a:pPr>
            <a:r>
              <a:rPr b="1" lang="en" sz="1100">
                <a:solidFill>
                  <a:schemeClr val="dk1"/>
                </a:solidFill>
                <a:latin typeface="Arimo"/>
                <a:ea typeface="Arimo"/>
                <a:cs typeface="Arimo"/>
                <a:sym typeface="Arimo"/>
              </a:rPr>
              <a:t>Requirements</a:t>
            </a:r>
            <a:r>
              <a:rPr b="1" lang="en" sz="1100">
                <a:solidFill>
                  <a:schemeClr val="dk1"/>
                </a:solidFill>
                <a:latin typeface="Arimo"/>
                <a:ea typeface="Arimo"/>
                <a:cs typeface="Arimo"/>
                <a:sym typeface="Arimo"/>
              </a:rPr>
              <a:t> &amp; Architecture</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rPr lang="en" sz="1100">
                <a:solidFill>
                  <a:schemeClr val="dk1"/>
                </a:solidFill>
                <a:latin typeface="Arimo"/>
                <a:ea typeface="Arimo"/>
                <a:cs typeface="Arimo"/>
                <a:sym typeface="Arimo"/>
              </a:rPr>
              <a:t>Creation of </a:t>
            </a:r>
            <a:r>
              <a:rPr lang="en" sz="1100">
                <a:solidFill>
                  <a:schemeClr val="dk1"/>
                </a:solidFill>
                <a:latin typeface="Arimo"/>
                <a:ea typeface="Arimo"/>
                <a:cs typeface="Arimo"/>
                <a:sym typeface="Arimo"/>
              </a:rPr>
              <a:t>requirements</a:t>
            </a:r>
            <a:r>
              <a:rPr lang="en" sz="1100">
                <a:solidFill>
                  <a:schemeClr val="dk1"/>
                </a:solidFill>
                <a:latin typeface="Arimo"/>
                <a:ea typeface="Arimo"/>
                <a:cs typeface="Arimo"/>
                <a:sym typeface="Arimo"/>
              </a:rPr>
              <a:t> documents and diagrams.</a:t>
            </a:r>
            <a:endParaRPr sz="1100">
              <a:solidFill>
                <a:schemeClr val="dk1"/>
              </a:solidFill>
              <a:latin typeface="Arimo"/>
              <a:ea typeface="Arimo"/>
              <a:cs typeface="Arimo"/>
              <a:sym typeface="Arimo"/>
            </a:endParaRPr>
          </a:p>
        </p:txBody>
      </p:sp>
      <p:sp>
        <p:nvSpPr>
          <p:cNvPr id="393" name="Google Shape;393;p48"/>
          <p:cNvSpPr txBox="1"/>
          <p:nvPr/>
        </p:nvSpPr>
        <p:spPr>
          <a:xfrm>
            <a:off x="1723275" y="3176350"/>
            <a:ext cx="1385400" cy="1419300"/>
          </a:xfrm>
          <a:prstGeom prst="rect">
            <a:avLst/>
          </a:prstGeom>
          <a:noFill/>
          <a:ln>
            <a:noFill/>
          </a:ln>
        </p:spPr>
        <p:txBody>
          <a:bodyPr anchorCtr="0" anchor="t" bIns="0" lIns="137150" spcFirstLastPara="1" rIns="137150" wrap="square" tIns="0">
            <a:noAutofit/>
          </a:bodyPr>
          <a:lstStyle/>
          <a:p>
            <a:pPr indent="0" lvl="0" marL="0" rtl="0" algn="ctr">
              <a:lnSpc>
                <a:spcPct val="115000"/>
              </a:lnSpc>
              <a:spcBef>
                <a:spcPts val="0"/>
              </a:spcBef>
              <a:spcAft>
                <a:spcPts val="0"/>
              </a:spcAft>
              <a:buClr>
                <a:schemeClr val="lt1"/>
              </a:buClr>
              <a:buSzPts val="1100"/>
              <a:buFont typeface="Arial"/>
              <a:buNone/>
            </a:pPr>
            <a:r>
              <a:rPr b="1" lang="en" sz="1100">
                <a:solidFill>
                  <a:schemeClr val="dk1"/>
                </a:solidFill>
                <a:latin typeface="Arimo"/>
                <a:ea typeface="Arimo"/>
                <a:cs typeface="Arimo"/>
                <a:sym typeface="Arimo"/>
              </a:rPr>
              <a:t>Backend Development</a:t>
            </a:r>
            <a:endParaRPr sz="700">
              <a:solidFill>
                <a:schemeClr val="dk1"/>
              </a:solidFill>
              <a:latin typeface="Arimo"/>
              <a:ea typeface="Arimo"/>
              <a:cs typeface="Arimo"/>
              <a:sym typeface="Arimo"/>
            </a:endParaRPr>
          </a:p>
          <a:p>
            <a:pPr indent="0" lvl="0" marL="0" rtl="0" algn="ctr">
              <a:lnSpc>
                <a:spcPct val="115000"/>
              </a:lnSpc>
              <a:spcBef>
                <a:spcPts val="0"/>
              </a:spcBef>
              <a:spcAft>
                <a:spcPts val="0"/>
              </a:spcAft>
              <a:buClr>
                <a:schemeClr val="lt1"/>
              </a:buClr>
              <a:buSzPts val="1100"/>
              <a:buNone/>
            </a:pPr>
            <a:r>
              <a:rPr lang="en" sz="1100">
                <a:solidFill>
                  <a:schemeClr val="dk1"/>
                </a:solidFill>
                <a:latin typeface="Arimo"/>
                <a:ea typeface="Arimo"/>
                <a:cs typeface="Arimo"/>
                <a:sym typeface="Arimo"/>
              </a:rPr>
              <a:t>Creation of user account modules, database schema, and </a:t>
            </a:r>
            <a:r>
              <a:rPr lang="en" sz="1100">
                <a:solidFill>
                  <a:schemeClr val="dk1"/>
                </a:solidFill>
                <a:latin typeface="Arimo"/>
                <a:ea typeface="Arimo"/>
                <a:cs typeface="Arimo"/>
                <a:sym typeface="Arimo"/>
              </a:rPr>
              <a:t>Authentication</a:t>
            </a:r>
            <a:endParaRPr sz="1100">
              <a:solidFill>
                <a:schemeClr val="dk1"/>
              </a:solidFill>
              <a:latin typeface="Arimo"/>
              <a:ea typeface="Arimo"/>
              <a:cs typeface="Arimo"/>
              <a:sym typeface="Arimo"/>
            </a:endParaRPr>
          </a:p>
        </p:txBody>
      </p:sp>
      <p:sp>
        <p:nvSpPr>
          <p:cNvPr id="394" name="Google Shape;394;p48"/>
          <p:cNvSpPr txBox="1"/>
          <p:nvPr/>
        </p:nvSpPr>
        <p:spPr>
          <a:xfrm>
            <a:off x="3164225" y="3176350"/>
            <a:ext cx="1385400" cy="1364400"/>
          </a:xfrm>
          <a:prstGeom prst="rect">
            <a:avLst/>
          </a:prstGeom>
          <a:noFill/>
          <a:ln>
            <a:noFill/>
          </a:ln>
        </p:spPr>
        <p:txBody>
          <a:bodyPr anchorCtr="0" anchor="t" bIns="0" lIns="137150" spcFirstLastPara="1" rIns="137150" wrap="square" tIns="0">
            <a:noAutofit/>
          </a:bodyPr>
          <a:lstStyle/>
          <a:p>
            <a:pPr indent="0" lvl="0" marL="0" rtl="0" algn="ctr">
              <a:lnSpc>
                <a:spcPct val="115000"/>
              </a:lnSpc>
              <a:spcBef>
                <a:spcPts val="0"/>
              </a:spcBef>
              <a:spcAft>
                <a:spcPts val="0"/>
              </a:spcAft>
              <a:buClr>
                <a:schemeClr val="lt1"/>
              </a:buClr>
              <a:buSzPts val="1100"/>
              <a:buFont typeface="Arial"/>
              <a:buNone/>
            </a:pPr>
            <a:r>
              <a:rPr b="1" lang="en" sz="1100">
                <a:solidFill>
                  <a:schemeClr val="dk1"/>
                </a:solidFill>
                <a:latin typeface="Arimo"/>
                <a:ea typeface="Arimo"/>
                <a:cs typeface="Arimo"/>
                <a:sym typeface="Arimo"/>
              </a:rPr>
              <a:t>Backend </a:t>
            </a:r>
            <a:r>
              <a:rPr b="1" lang="en" sz="1100">
                <a:solidFill>
                  <a:schemeClr val="dk1"/>
                </a:solidFill>
                <a:latin typeface="Arimo"/>
                <a:ea typeface="Arimo"/>
                <a:cs typeface="Arimo"/>
                <a:sym typeface="Arimo"/>
              </a:rPr>
              <a:t>Development</a:t>
            </a:r>
            <a:r>
              <a:rPr b="1" lang="en" sz="1100">
                <a:solidFill>
                  <a:schemeClr val="dk1"/>
                </a:solidFill>
                <a:latin typeface="Arimo"/>
                <a:ea typeface="Arimo"/>
                <a:cs typeface="Arimo"/>
                <a:sym typeface="Arimo"/>
              </a:rPr>
              <a:t> cont.</a:t>
            </a:r>
            <a:endParaRPr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rPr lang="en" sz="1100">
                <a:solidFill>
                  <a:schemeClr val="dk1"/>
                </a:solidFill>
                <a:latin typeface="Arimo"/>
                <a:ea typeface="Arimo"/>
                <a:cs typeface="Arimo"/>
                <a:sym typeface="Arimo"/>
              </a:rPr>
              <a:t>Creation of user transactions, API creation, and validation logic</a:t>
            </a:r>
            <a:endParaRPr sz="1100">
              <a:solidFill>
                <a:schemeClr val="dk1"/>
              </a:solidFill>
              <a:latin typeface="Arimo"/>
              <a:ea typeface="Arimo"/>
              <a:cs typeface="Arimo"/>
              <a:sym typeface="Arimo"/>
            </a:endParaRPr>
          </a:p>
        </p:txBody>
      </p:sp>
      <p:sp>
        <p:nvSpPr>
          <p:cNvPr id="395" name="Google Shape;395;p48"/>
          <p:cNvSpPr txBox="1"/>
          <p:nvPr/>
        </p:nvSpPr>
        <p:spPr>
          <a:xfrm>
            <a:off x="4605200" y="3176350"/>
            <a:ext cx="1385400" cy="1364400"/>
          </a:xfrm>
          <a:prstGeom prst="rect">
            <a:avLst/>
          </a:prstGeom>
          <a:noFill/>
          <a:ln>
            <a:noFill/>
          </a:ln>
        </p:spPr>
        <p:txBody>
          <a:bodyPr anchorCtr="0" anchor="t" bIns="0" lIns="137150" spcFirstLastPara="1" rIns="137150" wrap="square" tIns="0">
            <a:noAutofit/>
          </a:bodyPr>
          <a:lstStyle/>
          <a:p>
            <a:pPr indent="0" lvl="0" marL="0" rtl="0" algn="ctr">
              <a:lnSpc>
                <a:spcPct val="115000"/>
              </a:lnSpc>
              <a:spcBef>
                <a:spcPts val="0"/>
              </a:spcBef>
              <a:spcAft>
                <a:spcPts val="0"/>
              </a:spcAft>
              <a:buClr>
                <a:schemeClr val="lt1"/>
              </a:buClr>
              <a:buSzPts val="1100"/>
              <a:buFont typeface="Arial"/>
              <a:buNone/>
            </a:pPr>
            <a:r>
              <a:rPr b="1" lang="en" sz="1100">
                <a:solidFill>
                  <a:schemeClr val="dk1"/>
                </a:solidFill>
                <a:latin typeface="Arimo"/>
                <a:ea typeface="Arimo"/>
                <a:cs typeface="Arimo"/>
                <a:sym typeface="Arimo"/>
              </a:rPr>
              <a:t>Frontend Development</a:t>
            </a:r>
            <a:endParaRPr sz="700">
              <a:solidFill>
                <a:schemeClr val="dk1"/>
              </a:solidFill>
              <a:latin typeface="Arimo"/>
              <a:ea typeface="Arimo"/>
              <a:cs typeface="Arimo"/>
              <a:sym typeface="Arimo"/>
            </a:endParaRPr>
          </a:p>
          <a:p>
            <a:pPr indent="0" lvl="0" marL="0" rtl="0" algn="ctr">
              <a:lnSpc>
                <a:spcPct val="115000"/>
              </a:lnSpc>
              <a:spcBef>
                <a:spcPts val="0"/>
              </a:spcBef>
              <a:spcAft>
                <a:spcPts val="0"/>
              </a:spcAft>
              <a:buClr>
                <a:schemeClr val="lt1"/>
              </a:buClr>
              <a:buSzPts val="1100"/>
              <a:buNone/>
            </a:pPr>
            <a:r>
              <a:rPr lang="en" sz="1100">
                <a:solidFill>
                  <a:schemeClr val="dk1"/>
                </a:solidFill>
                <a:latin typeface="Arimo"/>
                <a:ea typeface="Arimo"/>
                <a:cs typeface="Arimo"/>
                <a:sym typeface="Arimo"/>
              </a:rPr>
              <a:t>Creation</a:t>
            </a:r>
            <a:r>
              <a:rPr lang="en" sz="1100">
                <a:solidFill>
                  <a:schemeClr val="dk1"/>
                </a:solidFill>
                <a:latin typeface="Arimo"/>
                <a:ea typeface="Arimo"/>
                <a:cs typeface="Arimo"/>
                <a:sym typeface="Arimo"/>
              </a:rPr>
              <a:t> of user interfaces. Main screens and user flows</a:t>
            </a:r>
            <a:endParaRPr sz="1100">
              <a:solidFill>
                <a:schemeClr val="dk1"/>
              </a:solidFill>
              <a:latin typeface="Arimo"/>
              <a:ea typeface="Arimo"/>
              <a:cs typeface="Arimo"/>
              <a:sym typeface="Arimo"/>
            </a:endParaRPr>
          </a:p>
        </p:txBody>
      </p:sp>
      <p:sp>
        <p:nvSpPr>
          <p:cNvPr id="396" name="Google Shape;396;p48"/>
          <p:cNvSpPr txBox="1"/>
          <p:nvPr/>
        </p:nvSpPr>
        <p:spPr>
          <a:xfrm>
            <a:off x="6046150" y="3176350"/>
            <a:ext cx="1385400" cy="1364400"/>
          </a:xfrm>
          <a:prstGeom prst="rect">
            <a:avLst/>
          </a:prstGeom>
          <a:noFill/>
          <a:ln>
            <a:noFill/>
          </a:ln>
        </p:spPr>
        <p:txBody>
          <a:bodyPr anchorCtr="0" anchor="t" bIns="0" lIns="137150" spcFirstLastPara="1" rIns="137150" wrap="square" tIns="0">
            <a:noAutofit/>
          </a:bodyPr>
          <a:lstStyle/>
          <a:p>
            <a:pPr indent="0" lvl="0" marL="0" rtl="0" algn="ctr">
              <a:lnSpc>
                <a:spcPct val="115000"/>
              </a:lnSpc>
              <a:spcBef>
                <a:spcPts val="0"/>
              </a:spcBef>
              <a:spcAft>
                <a:spcPts val="0"/>
              </a:spcAft>
              <a:buClr>
                <a:schemeClr val="lt1"/>
              </a:buClr>
              <a:buSzPts val="1100"/>
              <a:buFont typeface="Arial"/>
              <a:buNone/>
            </a:pPr>
            <a:r>
              <a:rPr b="1" lang="en" sz="1100">
                <a:solidFill>
                  <a:schemeClr val="dk1"/>
                </a:solidFill>
                <a:latin typeface="Arimo"/>
                <a:ea typeface="Arimo"/>
                <a:cs typeface="Arimo"/>
                <a:sym typeface="Arimo"/>
              </a:rPr>
              <a:t>Polishing</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Clr>
                <a:schemeClr val="lt1"/>
              </a:buClr>
              <a:buSzPts val="1100"/>
              <a:buNone/>
            </a:pPr>
            <a:r>
              <a:rPr lang="en" sz="1100">
                <a:solidFill>
                  <a:schemeClr val="dk1"/>
                </a:solidFill>
                <a:latin typeface="Arimo"/>
                <a:ea typeface="Arimo"/>
                <a:cs typeface="Arimo"/>
                <a:sym typeface="Arimo"/>
              </a:rPr>
              <a:t>Further </a:t>
            </a:r>
            <a:r>
              <a:rPr lang="en" sz="1100">
                <a:solidFill>
                  <a:schemeClr val="dk1"/>
                </a:solidFill>
                <a:latin typeface="Arimo"/>
                <a:ea typeface="Arimo"/>
                <a:cs typeface="Arimo"/>
                <a:sym typeface="Arimo"/>
              </a:rPr>
              <a:t>refinement</a:t>
            </a:r>
            <a:r>
              <a:rPr lang="en" sz="1100">
                <a:solidFill>
                  <a:schemeClr val="dk1"/>
                </a:solidFill>
                <a:latin typeface="Arimo"/>
                <a:ea typeface="Arimo"/>
                <a:cs typeface="Arimo"/>
                <a:sym typeface="Arimo"/>
              </a:rPr>
              <a:t> of user interfaces. API integration, as well as </a:t>
            </a:r>
            <a:r>
              <a:rPr lang="en" sz="1100">
                <a:solidFill>
                  <a:schemeClr val="dk1"/>
                </a:solidFill>
                <a:latin typeface="Arimo"/>
                <a:ea typeface="Arimo"/>
                <a:cs typeface="Arimo"/>
                <a:sym typeface="Arimo"/>
              </a:rPr>
              <a:t>increase in</a:t>
            </a:r>
            <a:r>
              <a:rPr lang="en" sz="1100">
                <a:solidFill>
                  <a:schemeClr val="dk1"/>
                </a:solidFill>
                <a:latin typeface="Arimo"/>
                <a:ea typeface="Arimo"/>
                <a:cs typeface="Arimo"/>
                <a:sym typeface="Arimo"/>
              </a:rPr>
              <a:t> error Handling</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700">
              <a:solidFill>
                <a:schemeClr val="dk1"/>
              </a:solidFill>
              <a:latin typeface="Arimo"/>
              <a:ea typeface="Arimo"/>
              <a:cs typeface="Arimo"/>
              <a:sym typeface="Arimo"/>
            </a:endParaRPr>
          </a:p>
        </p:txBody>
      </p:sp>
      <p:sp>
        <p:nvSpPr>
          <p:cNvPr id="397" name="Google Shape;397;p48"/>
          <p:cNvSpPr txBox="1"/>
          <p:nvPr/>
        </p:nvSpPr>
        <p:spPr>
          <a:xfrm>
            <a:off x="7487125" y="3176350"/>
            <a:ext cx="1385400" cy="1364400"/>
          </a:xfrm>
          <a:prstGeom prst="rect">
            <a:avLst/>
          </a:prstGeom>
          <a:noFill/>
          <a:ln>
            <a:noFill/>
          </a:ln>
        </p:spPr>
        <p:txBody>
          <a:bodyPr anchorCtr="0" anchor="t" bIns="0" lIns="137150" spcFirstLastPara="1" rIns="137150" wrap="square" tIns="0">
            <a:noAutofit/>
          </a:bodyPr>
          <a:lstStyle/>
          <a:p>
            <a:pPr indent="0" lvl="0" marL="0" rtl="0" algn="ctr">
              <a:lnSpc>
                <a:spcPct val="115000"/>
              </a:lnSpc>
              <a:spcBef>
                <a:spcPts val="0"/>
              </a:spcBef>
              <a:spcAft>
                <a:spcPts val="0"/>
              </a:spcAft>
              <a:buClr>
                <a:schemeClr val="lt1"/>
              </a:buClr>
              <a:buSzPts val="1100"/>
              <a:buFont typeface="Arial"/>
              <a:buNone/>
            </a:pPr>
            <a:r>
              <a:rPr b="1" lang="en" sz="1100">
                <a:solidFill>
                  <a:schemeClr val="dk1"/>
                </a:solidFill>
                <a:latin typeface="Arimo"/>
                <a:ea typeface="Arimo"/>
                <a:cs typeface="Arimo"/>
                <a:sym typeface="Arimo"/>
              </a:rPr>
              <a:t>Testing &amp; Deployment</a:t>
            </a:r>
            <a:endParaRPr b="1" i="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rPr lang="en" sz="1100">
                <a:solidFill>
                  <a:schemeClr val="dk1"/>
                </a:solidFill>
                <a:latin typeface="Arimo"/>
                <a:ea typeface="Arimo"/>
                <a:cs typeface="Arimo"/>
                <a:sym typeface="Arimo"/>
              </a:rPr>
              <a:t>Perform system tests. </a:t>
            </a:r>
            <a:endParaRPr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rPr lang="en" sz="1100">
                <a:solidFill>
                  <a:schemeClr val="dk1"/>
                </a:solidFill>
                <a:latin typeface="Arimo"/>
                <a:ea typeface="Arimo"/>
                <a:cs typeface="Arimo"/>
                <a:sym typeface="Arimo"/>
              </a:rPr>
              <a:t>Fix bugs. </a:t>
            </a:r>
            <a:endParaRPr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rPr lang="en" sz="1100">
                <a:solidFill>
                  <a:schemeClr val="dk1"/>
                </a:solidFill>
                <a:latin typeface="Arimo"/>
                <a:ea typeface="Arimo"/>
                <a:cs typeface="Arimo"/>
                <a:sym typeface="Arimo"/>
              </a:rPr>
              <a:t>Deployment</a:t>
            </a:r>
            <a:endParaRPr sz="1100">
              <a:solidFill>
                <a:schemeClr val="dk1"/>
              </a:solidFill>
              <a:latin typeface="Arimo"/>
              <a:ea typeface="Arimo"/>
              <a:cs typeface="Arimo"/>
              <a:sym typeface="Arimo"/>
            </a:endParaRPr>
          </a:p>
        </p:txBody>
      </p:sp>
      <p:cxnSp>
        <p:nvCxnSpPr>
          <p:cNvPr id="398" name="Google Shape;398;p48"/>
          <p:cNvCxnSpPr/>
          <p:nvPr/>
        </p:nvCxnSpPr>
        <p:spPr>
          <a:xfrm>
            <a:off x="9699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99" name="Google Shape;399;p48"/>
          <p:cNvCxnSpPr/>
          <p:nvPr/>
        </p:nvCxnSpPr>
        <p:spPr>
          <a:xfrm>
            <a:off x="24100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400" name="Google Shape;400;p48"/>
          <p:cNvCxnSpPr/>
          <p:nvPr/>
        </p:nvCxnSpPr>
        <p:spPr>
          <a:xfrm>
            <a:off x="38500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401" name="Google Shape;401;p48"/>
          <p:cNvCxnSpPr/>
          <p:nvPr/>
        </p:nvCxnSpPr>
        <p:spPr>
          <a:xfrm>
            <a:off x="52901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402" name="Google Shape;402;p48"/>
          <p:cNvCxnSpPr/>
          <p:nvPr/>
        </p:nvCxnSpPr>
        <p:spPr>
          <a:xfrm>
            <a:off x="67301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403" name="Google Shape;403;p48"/>
          <p:cNvCxnSpPr/>
          <p:nvPr/>
        </p:nvCxnSpPr>
        <p:spPr>
          <a:xfrm>
            <a:off x="8170249" y="2419900"/>
            <a:ext cx="0" cy="421500"/>
          </a:xfrm>
          <a:prstGeom prst="straightConnector1">
            <a:avLst/>
          </a:prstGeom>
          <a:noFill/>
          <a:ln cap="flat" cmpd="sng" w="9525">
            <a:solidFill>
              <a:schemeClr val="dk1"/>
            </a:solidFill>
            <a:prstDash val="solid"/>
            <a:round/>
            <a:headEnd len="med" w="med" type="none"/>
            <a:tailEnd len="med" w="med" type="none"/>
          </a:ln>
        </p:spPr>
      </p:cxnSp>
      <p:sp>
        <p:nvSpPr>
          <p:cNvPr id="404" name="Google Shape;404;p48"/>
          <p:cNvSpPr/>
          <p:nvPr/>
        </p:nvSpPr>
        <p:spPr>
          <a:xfrm>
            <a:off x="6174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Arimo"/>
                <a:ea typeface="Arimo"/>
                <a:cs typeface="Arimo"/>
                <a:sym typeface="Arimo"/>
              </a:rPr>
              <a:t>1-2</a:t>
            </a:r>
            <a:endParaRPr sz="800">
              <a:solidFill>
                <a:schemeClr val="dk1"/>
              </a:solidFill>
              <a:latin typeface="Arimo"/>
              <a:ea typeface="Arimo"/>
              <a:cs typeface="Arimo"/>
              <a:sym typeface="Arimo"/>
            </a:endParaRPr>
          </a:p>
        </p:txBody>
      </p:sp>
      <p:sp>
        <p:nvSpPr>
          <p:cNvPr id="405" name="Google Shape;405;p48"/>
          <p:cNvSpPr/>
          <p:nvPr/>
        </p:nvSpPr>
        <p:spPr>
          <a:xfrm>
            <a:off x="205747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3-4</a:t>
            </a:r>
            <a:endParaRPr sz="800">
              <a:solidFill>
                <a:schemeClr val="dk1"/>
              </a:solidFill>
              <a:latin typeface="Arimo"/>
              <a:ea typeface="Arimo"/>
              <a:cs typeface="Arimo"/>
              <a:sym typeface="Arimo"/>
            </a:endParaRPr>
          </a:p>
        </p:txBody>
      </p:sp>
      <p:sp>
        <p:nvSpPr>
          <p:cNvPr id="406" name="Google Shape;406;p48"/>
          <p:cNvSpPr/>
          <p:nvPr/>
        </p:nvSpPr>
        <p:spPr>
          <a:xfrm>
            <a:off x="34975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5-6</a:t>
            </a:r>
            <a:endParaRPr sz="800">
              <a:solidFill>
                <a:schemeClr val="dk1"/>
              </a:solidFill>
              <a:latin typeface="Arimo"/>
              <a:ea typeface="Arimo"/>
              <a:cs typeface="Arimo"/>
              <a:sym typeface="Arimo"/>
            </a:endParaRPr>
          </a:p>
        </p:txBody>
      </p:sp>
      <p:sp>
        <p:nvSpPr>
          <p:cNvPr id="407" name="Google Shape;407;p48"/>
          <p:cNvSpPr/>
          <p:nvPr/>
        </p:nvSpPr>
        <p:spPr>
          <a:xfrm>
            <a:off x="493757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7-8</a:t>
            </a:r>
            <a:endParaRPr sz="800">
              <a:solidFill>
                <a:schemeClr val="dk1"/>
              </a:solidFill>
              <a:latin typeface="Arimo"/>
              <a:ea typeface="Arimo"/>
              <a:cs typeface="Arimo"/>
              <a:sym typeface="Arimo"/>
            </a:endParaRPr>
          </a:p>
        </p:txBody>
      </p:sp>
      <p:sp>
        <p:nvSpPr>
          <p:cNvPr id="408" name="Google Shape;408;p48"/>
          <p:cNvSpPr/>
          <p:nvPr/>
        </p:nvSpPr>
        <p:spPr>
          <a:xfrm>
            <a:off x="63776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9-10</a:t>
            </a:r>
            <a:endParaRPr sz="800">
              <a:solidFill>
                <a:schemeClr val="dk1"/>
              </a:solidFill>
              <a:latin typeface="Arimo"/>
              <a:ea typeface="Arimo"/>
              <a:cs typeface="Arimo"/>
              <a:sym typeface="Arimo"/>
            </a:endParaRPr>
          </a:p>
        </p:txBody>
      </p:sp>
      <p:sp>
        <p:nvSpPr>
          <p:cNvPr id="409" name="Google Shape;409;p48"/>
          <p:cNvSpPr/>
          <p:nvPr/>
        </p:nvSpPr>
        <p:spPr>
          <a:xfrm>
            <a:off x="7810849" y="2175400"/>
            <a:ext cx="718800" cy="244500"/>
          </a:xfrm>
          <a:prstGeom prst="roundRect">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Arimo"/>
                <a:ea typeface="Arimo"/>
                <a:cs typeface="Arimo"/>
                <a:sym typeface="Arimo"/>
              </a:rPr>
              <a:t>11-12</a:t>
            </a:r>
            <a:endParaRPr sz="800">
              <a:solidFill>
                <a:schemeClr val="lt2"/>
              </a:solidFill>
              <a:latin typeface="Arimo"/>
              <a:ea typeface="Arimo"/>
              <a:cs typeface="Arimo"/>
              <a:sym typeface="Arimo"/>
            </a:endParaRPr>
          </a:p>
        </p:txBody>
      </p:sp>
      <p:sp>
        <p:nvSpPr>
          <p:cNvPr id="410" name="Google Shape;410;p48"/>
          <p:cNvSpPr/>
          <p:nvPr/>
        </p:nvSpPr>
        <p:spPr>
          <a:xfrm>
            <a:off x="9399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11" name="Google Shape;411;p48"/>
          <p:cNvSpPr/>
          <p:nvPr/>
        </p:nvSpPr>
        <p:spPr>
          <a:xfrm>
            <a:off x="23800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12" name="Google Shape;412;p48"/>
          <p:cNvSpPr/>
          <p:nvPr/>
        </p:nvSpPr>
        <p:spPr>
          <a:xfrm>
            <a:off x="38200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13" name="Google Shape;413;p48"/>
          <p:cNvSpPr/>
          <p:nvPr/>
        </p:nvSpPr>
        <p:spPr>
          <a:xfrm>
            <a:off x="52601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14" name="Google Shape;414;p48"/>
          <p:cNvSpPr/>
          <p:nvPr/>
        </p:nvSpPr>
        <p:spPr>
          <a:xfrm>
            <a:off x="67001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15" name="Google Shape;415;p48"/>
          <p:cNvSpPr/>
          <p:nvPr/>
        </p:nvSpPr>
        <p:spPr>
          <a:xfrm>
            <a:off x="81402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16" name="Google Shape;416;p4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17" name="Google Shape;417;p48"/>
          <p:cNvSpPr txBox="1"/>
          <p:nvPr/>
        </p:nvSpPr>
        <p:spPr>
          <a:xfrm>
            <a:off x="0" y="2109225"/>
            <a:ext cx="657900" cy="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Weeks</a:t>
            </a:r>
            <a:endParaRPr sz="1200">
              <a:solidFill>
                <a:schemeClr val="dk1"/>
              </a:solidFill>
              <a:latin typeface="Arimo"/>
              <a:ea typeface="Arimo"/>
              <a:cs typeface="Arimo"/>
              <a:sym typeface="Arimo"/>
            </a:endParaRPr>
          </a:p>
        </p:txBody>
      </p:sp>
      <p:sp>
        <p:nvSpPr>
          <p:cNvPr id="418" name="Google Shape;418;p48"/>
          <p:cNvSpPr txBox="1"/>
          <p:nvPr/>
        </p:nvSpPr>
        <p:spPr>
          <a:xfrm>
            <a:off x="617425" y="1863500"/>
            <a:ext cx="718800" cy="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Sprint 1</a:t>
            </a:r>
            <a:endParaRPr sz="1200">
              <a:solidFill>
                <a:schemeClr val="dk1"/>
              </a:solidFill>
              <a:latin typeface="Arimo"/>
              <a:ea typeface="Arimo"/>
              <a:cs typeface="Arimo"/>
              <a:sym typeface="Arimo"/>
            </a:endParaRPr>
          </a:p>
        </p:txBody>
      </p:sp>
      <p:sp>
        <p:nvSpPr>
          <p:cNvPr id="419" name="Google Shape;419;p48"/>
          <p:cNvSpPr txBox="1"/>
          <p:nvPr/>
        </p:nvSpPr>
        <p:spPr>
          <a:xfrm>
            <a:off x="2057475" y="1863500"/>
            <a:ext cx="718800" cy="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Sprint 2</a:t>
            </a:r>
            <a:endParaRPr sz="1200">
              <a:solidFill>
                <a:schemeClr val="dk1"/>
              </a:solidFill>
              <a:latin typeface="Arimo"/>
              <a:ea typeface="Arimo"/>
              <a:cs typeface="Arimo"/>
              <a:sym typeface="Arimo"/>
            </a:endParaRPr>
          </a:p>
        </p:txBody>
      </p:sp>
      <p:sp>
        <p:nvSpPr>
          <p:cNvPr id="420" name="Google Shape;420;p48"/>
          <p:cNvSpPr txBox="1"/>
          <p:nvPr/>
        </p:nvSpPr>
        <p:spPr>
          <a:xfrm>
            <a:off x="3497525" y="1863500"/>
            <a:ext cx="718800" cy="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Sprint 3</a:t>
            </a:r>
            <a:endParaRPr sz="1200">
              <a:solidFill>
                <a:schemeClr val="dk1"/>
              </a:solidFill>
              <a:latin typeface="Arimo"/>
              <a:ea typeface="Arimo"/>
              <a:cs typeface="Arimo"/>
              <a:sym typeface="Arimo"/>
            </a:endParaRPr>
          </a:p>
        </p:txBody>
      </p:sp>
      <p:sp>
        <p:nvSpPr>
          <p:cNvPr id="421" name="Google Shape;421;p48"/>
          <p:cNvSpPr txBox="1"/>
          <p:nvPr/>
        </p:nvSpPr>
        <p:spPr>
          <a:xfrm>
            <a:off x="4937575" y="1863500"/>
            <a:ext cx="718800" cy="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Sprint 4</a:t>
            </a:r>
            <a:endParaRPr sz="1200">
              <a:solidFill>
                <a:schemeClr val="dk1"/>
              </a:solidFill>
              <a:latin typeface="Arimo"/>
              <a:ea typeface="Arimo"/>
              <a:cs typeface="Arimo"/>
              <a:sym typeface="Arimo"/>
            </a:endParaRPr>
          </a:p>
        </p:txBody>
      </p:sp>
      <p:sp>
        <p:nvSpPr>
          <p:cNvPr id="422" name="Google Shape;422;p48"/>
          <p:cNvSpPr txBox="1"/>
          <p:nvPr/>
        </p:nvSpPr>
        <p:spPr>
          <a:xfrm>
            <a:off x="6374213" y="1863500"/>
            <a:ext cx="718800" cy="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Sprint 5</a:t>
            </a:r>
            <a:endParaRPr sz="1200">
              <a:solidFill>
                <a:schemeClr val="dk1"/>
              </a:solidFill>
              <a:latin typeface="Arimo"/>
              <a:ea typeface="Arimo"/>
              <a:cs typeface="Arimo"/>
              <a:sym typeface="Arimo"/>
            </a:endParaRPr>
          </a:p>
        </p:txBody>
      </p:sp>
      <p:sp>
        <p:nvSpPr>
          <p:cNvPr id="423" name="Google Shape;423;p48"/>
          <p:cNvSpPr txBox="1"/>
          <p:nvPr/>
        </p:nvSpPr>
        <p:spPr>
          <a:xfrm>
            <a:off x="7810850" y="1863500"/>
            <a:ext cx="718800" cy="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Sprint 6</a:t>
            </a:r>
            <a:endParaRPr sz="1200">
              <a:solidFill>
                <a:schemeClr val="dk1"/>
              </a:solidFill>
              <a:latin typeface="Arimo"/>
              <a:ea typeface="Arimo"/>
              <a:cs typeface="Arimo"/>
              <a:sym typeface="Arim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49"/>
          <p:cNvPicPr preferRelativeResize="0"/>
          <p:nvPr/>
        </p:nvPicPr>
        <p:blipFill rotWithShape="1">
          <a:blip r:embed="rId3">
            <a:alphaModFix amt="10000"/>
          </a:blip>
          <a:srcRect b="19824" l="1069" r="80230" t="14704"/>
          <a:stretch/>
        </p:blipFill>
        <p:spPr>
          <a:xfrm>
            <a:off x="280800" y="1743975"/>
            <a:ext cx="1623600" cy="3039900"/>
          </a:xfrm>
          <a:prstGeom prst="roundRect">
            <a:avLst>
              <a:gd fmla="val 9898" name="adj"/>
            </a:avLst>
          </a:prstGeom>
          <a:noFill/>
          <a:ln>
            <a:noFill/>
          </a:ln>
        </p:spPr>
      </p:pic>
      <p:pic>
        <p:nvPicPr>
          <p:cNvPr id="429" name="Google Shape;429;p49"/>
          <p:cNvPicPr preferRelativeResize="0"/>
          <p:nvPr/>
        </p:nvPicPr>
        <p:blipFill rotWithShape="1">
          <a:blip r:embed="rId3">
            <a:alphaModFix amt="10000"/>
          </a:blip>
          <a:srcRect b="19824" l="1069" r="80230" t="14704"/>
          <a:stretch/>
        </p:blipFill>
        <p:spPr>
          <a:xfrm>
            <a:off x="2018600" y="1743975"/>
            <a:ext cx="1623600" cy="3039900"/>
          </a:xfrm>
          <a:prstGeom prst="roundRect">
            <a:avLst>
              <a:gd fmla="val 9898" name="adj"/>
            </a:avLst>
          </a:prstGeom>
          <a:noFill/>
          <a:ln>
            <a:noFill/>
          </a:ln>
        </p:spPr>
      </p:pic>
      <p:pic>
        <p:nvPicPr>
          <p:cNvPr id="430" name="Google Shape;430;p49"/>
          <p:cNvPicPr preferRelativeResize="0"/>
          <p:nvPr/>
        </p:nvPicPr>
        <p:blipFill rotWithShape="1">
          <a:blip r:embed="rId3">
            <a:alphaModFix amt="10000"/>
          </a:blip>
          <a:srcRect b="19824" l="1069" r="80230" t="14704"/>
          <a:stretch/>
        </p:blipFill>
        <p:spPr>
          <a:xfrm>
            <a:off x="3756400" y="1743975"/>
            <a:ext cx="1623600" cy="3039900"/>
          </a:xfrm>
          <a:prstGeom prst="roundRect">
            <a:avLst>
              <a:gd fmla="val 9898" name="adj"/>
            </a:avLst>
          </a:prstGeom>
          <a:noFill/>
          <a:ln>
            <a:noFill/>
          </a:ln>
        </p:spPr>
      </p:pic>
      <p:pic>
        <p:nvPicPr>
          <p:cNvPr id="431" name="Google Shape;431;p49"/>
          <p:cNvPicPr preferRelativeResize="0"/>
          <p:nvPr/>
        </p:nvPicPr>
        <p:blipFill rotWithShape="1">
          <a:blip r:embed="rId3">
            <a:alphaModFix amt="10000"/>
          </a:blip>
          <a:srcRect b="19824" l="1069" r="80230" t="14704"/>
          <a:stretch/>
        </p:blipFill>
        <p:spPr>
          <a:xfrm>
            <a:off x="5494200" y="1743975"/>
            <a:ext cx="1623600" cy="3039900"/>
          </a:xfrm>
          <a:prstGeom prst="roundRect">
            <a:avLst>
              <a:gd fmla="val 9898" name="adj"/>
            </a:avLst>
          </a:prstGeom>
          <a:noFill/>
          <a:ln>
            <a:noFill/>
          </a:ln>
        </p:spPr>
      </p:pic>
      <p:pic>
        <p:nvPicPr>
          <p:cNvPr id="432" name="Google Shape;432;p49"/>
          <p:cNvPicPr preferRelativeResize="0"/>
          <p:nvPr/>
        </p:nvPicPr>
        <p:blipFill rotWithShape="1">
          <a:blip r:embed="rId3">
            <a:alphaModFix amt="10000"/>
          </a:blip>
          <a:srcRect b="19824" l="1069" r="80230" t="14704"/>
          <a:stretch/>
        </p:blipFill>
        <p:spPr>
          <a:xfrm>
            <a:off x="7232000" y="1743975"/>
            <a:ext cx="1623600" cy="3039900"/>
          </a:xfrm>
          <a:prstGeom prst="roundRect">
            <a:avLst>
              <a:gd fmla="val 9898" name="adj"/>
            </a:avLst>
          </a:prstGeom>
          <a:noFill/>
          <a:ln>
            <a:noFill/>
          </a:ln>
        </p:spPr>
      </p:pic>
      <p:sp>
        <p:nvSpPr>
          <p:cNvPr id="433" name="Google Shape;433;p49"/>
          <p:cNvSpPr/>
          <p:nvPr/>
        </p:nvSpPr>
        <p:spPr>
          <a:xfrm>
            <a:off x="446761"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34" name="Google Shape;434;p49"/>
          <p:cNvSpPr/>
          <p:nvPr/>
        </p:nvSpPr>
        <p:spPr>
          <a:xfrm>
            <a:off x="491620"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1</a:t>
            </a:r>
            <a:endParaRPr sz="1800">
              <a:solidFill>
                <a:schemeClr val="dk1"/>
              </a:solidFill>
              <a:latin typeface="Arimo"/>
              <a:ea typeface="Arimo"/>
              <a:cs typeface="Arimo"/>
              <a:sym typeface="Arimo"/>
            </a:endParaRPr>
          </a:p>
        </p:txBody>
      </p:sp>
      <p:grpSp>
        <p:nvGrpSpPr>
          <p:cNvPr id="435" name="Google Shape;435;p49"/>
          <p:cNvGrpSpPr/>
          <p:nvPr/>
        </p:nvGrpSpPr>
        <p:grpSpPr>
          <a:xfrm>
            <a:off x="2196150" y="1919375"/>
            <a:ext cx="514500" cy="514500"/>
            <a:chOff x="2196150" y="1919375"/>
            <a:chExt cx="514500" cy="514500"/>
          </a:xfrm>
        </p:grpSpPr>
        <p:sp>
          <p:nvSpPr>
            <p:cNvPr id="436" name="Google Shape;436;p49"/>
            <p:cNvSpPr/>
            <p:nvPr/>
          </p:nvSpPr>
          <p:spPr>
            <a:xfrm>
              <a:off x="21961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sp>
          <p:nvSpPr>
            <p:cNvPr id="437" name="Google Shape;437;p49"/>
            <p:cNvSpPr/>
            <p:nvPr/>
          </p:nvSpPr>
          <p:spPr>
            <a:xfrm>
              <a:off x="22410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2</a:t>
              </a:r>
              <a:endParaRPr sz="1800">
                <a:solidFill>
                  <a:schemeClr val="dk1"/>
                </a:solidFill>
                <a:latin typeface="Arimo"/>
                <a:ea typeface="Arimo"/>
                <a:cs typeface="Arimo"/>
                <a:sym typeface="Arimo"/>
              </a:endParaRPr>
            </a:p>
          </p:txBody>
        </p:sp>
      </p:grpSp>
      <p:grpSp>
        <p:nvGrpSpPr>
          <p:cNvPr id="438" name="Google Shape;438;p49"/>
          <p:cNvGrpSpPr/>
          <p:nvPr/>
        </p:nvGrpSpPr>
        <p:grpSpPr>
          <a:xfrm>
            <a:off x="3936800" y="1919375"/>
            <a:ext cx="514500" cy="514500"/>
            <a:chOff x="3936800" y="1919375"/>
            <a:chExt cx="514500" cy="514500"/>
          </a:xfrm>
        </p:grpSpPr>
        <p:sp>
          <p:nvSpPr>
            <p:cNvPr id="439" name="Google Shape;439;p49"/>
            <p:cNvSpPr/>
            <p:nvPr/>
          </p:nvSpPr>
          <p:spPr>
            <a:xfrm>
              <a:off x="39368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40" name="Google Shape;440;p49"/>
            <p:cNvSpPr/>
            <p:nvPr/>
          </p:nvSpPr>
          <p:spPr>
            <a:xfrm>
              <a:off x="39816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3</a:t>
              </a:r>
              <a:endParaRPr sz="1800">
                <a:solidFill>
                  <a:schemeClr val="dk1"/>
                </a:solidFill>
                <a:latin typeface="Arimo"/>
                <a:ea typeface="Arimo"/>
                <a:cs typeface="Arimo"/>
                <a:sym typeface="Arimo"/>
              </a:endParaRPr>
            </a:p>
          </p:txBody>
        </p:sp>
      </p:grpSp>
      <p:grpSp>
        <p:nvGrpSpPr>
          <p:cNvPr id="441" name="Google Shape;441;p49"/>
          <p:cNvGrpSpPr/>
          <p:nvPr/>
        </p:nvGrpSpPr>
        <p:grpSpPr>
          <a:xfrm>
            <a:off x="5677450" y="1919375"/>
            <a:ext cx="514500" cy="514500"/>
            <a:chOff x="5677450" y="1919375"/>
            <a:chExt cx="514500" cy="514500"/>
          </a:xfrm>
        </p:grpSpPr>
        <p:sp>
          <p:nvSpPr>
            <p:cNvPr id="442" name="Google Shape;442;p49"/>
            <p:cNvSpPr/>
            <p:nvPr/>
          </p:nvSpPr>
          <p:spPr>
            <a:xfrm>
              <a:off x="56774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43" name="Google Shape;443;p49"/>
            <p:cNvSpPr/>
            <p:nvPr/>
          </p:nvSpPr>
          <p:spPr>
            <a:xfrm>
              <a:off x="57223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4</a:t>
              </a:r>
              <a:endParaRPr sz="1800">
                <a:solidFill>
                  <a:schemeClr val="dk1"/>
                </a:solidFill>
                <a:latin typeface="Arimo"/>
                <a:ea typeface="Arimo"/>
                <a:cs typeface="Arimo"/>
                <a:sym typeface="Arimo"/>
              </a:endParaRPr>
            </a:p>
          </p:txBody>
        </p:sp>
      </p:grpSp>
      <p:grpSp>
        <p:nvGrpSpPr>
          <p:cNvPr id="444" name="Google Shape;444;p49"/>
          <p:cNvGrpSpPr/>
          <p:nvPr/>
        </p:nvGrpSpPr>
        <p:grpSpPr>
          <a:xfrm>
            <a:off x="7418100" y="1919375"/>
            <a:ext cx="514500" cy="514500"/>
            <a:chOff x="7418100" y="1919375"/>
            <a:chExt cx="514500" cy="514500"/>
          </a:xfrm>
        </p:grpSpPr>
        <p:sp>
          <p:nvSpPr>
            <p:cNvPr id="445" name="Google Shape;445;p49"/>
            <p:cNvSpPr/>
            <p:nvPr/>
          </p:nvSpPr>
          <p:spPr>
            <a:xfrm>
              <a:off x="74181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46" name="Google Shape;446;p49"/>
            <p:cNvSpPr/>
            <p:nvPr/>
          </p:nvSpPr>
          <p:spPr>
            <a:xfrm>
              <a:off x="74629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5</a:t>
              </a:r>
              <a:endParaRPr sz="1800">
                <a:solidFill>
                  <a:schemeClr val="dk1"/>
                </a:solidFill>
                <a:latin typeface="Arimo"/>
                <a:ea typeface="Arimo"/>
                <a:cs typeface="Arimo"/>
                <a:sym typeface="Arimo"/>
              </a:endParaRPr>
            </a:p>
          </p:txBody>
        </p:sp>
      </p:grpSp>
      <p:sp>
        <p:nvSpPr>
          <p:cNvPr id="447" name="Google Shape;447;p49"/>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Functional Requirements</a:t>
            </a:r>
            <a:endParaRPr/>
          </a:p>
        </p:txBody>
      </p:sp>
      <p:sp>
        <p:nvSpPr>
          <p:cNvPr id="448" name="Google Shape;448;p49"/>
          <p:cNvSpPr txBox="1"/>
          <p:nvPr>
            <p:ph idx="1" type="subTitle"/>
          </p:nvPr>
        </p:nvSpPr>
        <p:spPr>
          <a:xfrm>
            <a:off x="421311"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Withdraw</a:t>
            </a:r>
            <a:endParaRPr/>
          </a:p>
          <a:p>
            <a:pPr indent="0" lvl="0" marL="0" rtl="0" algn="l">
              <a:spcBef>
                <a:spcPts val="0"/>
              </a:spcBef>
              <a:spcAft>
                <a:spcPts val="0"/>
              </a:spcAft>
              <a:buNone/>
            </a:pPr>
            <a:r>
              <a:rPr lang="en"/>
              <a:t>Deposits</a:t>
            </a:r>
            <a:endParaRPr/>
          </a:p>
        </p:txBody>
      </p:sp>
      <p:sp>
        <p:nvSpPr>
          <p:cNvPr id="449" name="Google Shape;449;p49"/>
          <p:cNvSpPr txBox="1"/>
          <p:nvPr>
            <p:ph idx="2" type="subTitle"/>
          </p:nvPr>
        </p:nvSpPr>
        <p:spPr>
          <a:xfrm>
            <a:off x="216170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Secure Login</a:t>
            </a:r>
            <a:endParaRPr/>
          </a:p>
        </p:txBody>
      </p:sp>
      <p:sp>
        <p:nvSpPr>
          <p:cNvPr id="450" name="Google Shape;450;p49"/>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Employee Managed</a:t>
            </a:r>
            <a:endParaRPr/>
          </a:p>
        </p:txBody>
      </p:sp>
      <p:sp>
        <p:nvSpPr>
          <p:cNvPr id="451" name="Google Shape;451;p49"/>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Generate account statements</a:t>
            </a:r>
            <a:endParaRPr/>
          </a:p>
        </p:txBody>
      </p:sp>
      <p:sp>
        <p:nvSpPr>
          <p:cNvPr id="452" name="Google Shape;452;p49"/>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Add new accounts</a:t>
            </a:r>
            <a:endParaRPr/>
          </a:p>
        </p:txBody>
      </p:sp>
      <p:sp>
        <p:nvSpPr>
          <p:cNvPr id="453" name="Google Shape;453;p49"/>
          <p:cNvSpPr txBox="1"/>
          <p:nvPr>
            <p:ph idx="6" type="body"/>
          </p:nvPr>
        </p:nvSpPr>
        <p:spPr>
          <a:xfrm>
            <a:off x="421311" y="3433000"/>
            <a:ext cx="1337400" cy="877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system must allow users to withdraw and </a:t>
            </a:r>
            <a:r>
              <a:rPr lang="en"/>
              <a:t>deposit</a:t>
            </a:r>
            <a:r>
              <a:rPr lang="en"/>
              <a:t> funds to and from an account</a:t>
            </a:r>
            <a:endParaRPr/>
          </a:p>
        </p:txBody>
      </p:sp>
      <p:sp>
        <p:nvSpPr>
          <p:cNvPr id="454" name="Google Shape;454;p49"/>
          <p:cNvSpPr txBox="1"/>
          <p:nvPr>
            <p:ph idx="7" type="body"/>
          </p:nvPr>
        </p:nvSpPr>
        <p:spPr>
          <a:xfrm>
            <a:off x="2167325" y="3433000"/>
            <a:ext cx="1337400" cy="877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System must authenticate user logins such as two-factor authentication</a:t>
            </a:r>
            <a:endParaRPr/>
          </a:p>
        </p:txBody>
      </p:sp>
      <p:sp>
        <p:nvSpPr>
          <p:cNvPr id="455" name="Google Shape;455;p49"/>
          <p:cNvSpPr txBox="1"/>
          <p:nvPr>
            <p:ph idx="8" type="body"/>
          </p:nvPr>
        </p:nvSpPr>
        <p:spPr>
          <a:xfrm>
            <a:off x="3903300" y="3433000"/>
            <a:ext cx="1337400" cy="800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000"/>
              <a:t>Bank employee must have access to manage customer accounts</a:t>
            </a:r>
            <a:endParaRPr sz="1000"/>
          </a:p>
        </p:txBody>
      </p:sp>
      <p:sp>
        <p:nvSpPr>
          <p:cNvPr id="456" name="Google Shape;456;p49"/>
          <p:cNvSpPr txBox="1"/>
          <p:nvPr>
            <p:ph idx="9" type="body"/>
          </p:nvPr>
        </p:nvSpPr>
        <p:spPr>
          <a:xfrm>
            <a:off x="5648625" y="3433000"/>
            <a:ext cx="1337400" cy="110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000"/>
              <a:t>The system must generate account statements that provides general information of the user account</a:t>
            </a:r>
            <a:endParaRPr sz="1000"/>
          </a:p>
        </p:txBody>
      </p:sp>
      <p:sp>
        <p:nvSpPr>
          <p:cNvPr id="457" name="Google Shape;457;p49"/>
          <p:cNvSpPr txBox="1"/>
          <p:nvPr>
            <p:ph idx="13" type="body"/>
          </p:nvPr>
        </p:nvSpPr>
        <p:spPr>
          <a:xfrm>
            <a:off x="7385291" y="3433000"/>
            <a:ext cx="1337400" cy="692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sz="1100"/>
              <a:t>The system must allow the addition of new accounts. </a:t>
            </a:r>
            <a:endParaRPr sz="1100"/>
          </a:p>
        </p:txBody>
      </p:sp>
      <p:sp>
        <p:nvSpPr>
          <p:cNvPr id="458" name="Google Shape;458;p4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pic>
        <p:nvPicPr>
          <p:cNvPr id="463" name="Google Shape;463;p50"/>
          <p:cNvPicPr preferRelativeResize="0"/>
          <p:nvPr/>
        </p:nvPicPr>
        <p:blipFill rotWithShape="1">
          <a:blip r:embed="rId3">
            <a:alphaModFix amt="10000"/>
          </a:blip>
          <a:srcRect b="19824" l="1069" r="80230" t="14704"/>
          <a:stretch/>
        </p:blipFill>
        <p:spPr>
          <a:xfrm>
            <a:off x="280800" y="1743975"/>
            <a:ext cx="1623600" cy="3039900"/>
          </a:xfrm>
          <a:prstGeom prst="roundRect">
            <a:avLst>
              <a:gd fmla="val 9898" name="adj"/>
            </a:avLst>
          </a:prstGeom>
          <a:noFill/>
          <a:ln>
            <a:noFill/>
          </a:ln>
        </p:spPr>
      </p:pic>
      <p:pic>
        <p:nvPicPr>
          <p:cNvPr id="464" name="Google Shape;464;p50"/>
          <p:cNvPicPr preferRelativeResize="0"/>
          <p:nvPr/>
        </p:nvPicPr>
        <p:blipFill rotWithShape="1">
          <a:blip r:embed="rId3">
            <a:alphaModFix amt="10000"/>
          </a:blip>
          <a:srcRect b="19824" l="1069" r="80230" t="14704"/>
          <a:stretch/>
        </p:blipFill>
        <p:spPr>
          <a:xfrm>
            <a:off x="2018600" y="1743975"/>
            <a:ext cx="1623600" cy="3039900"/>
          </a:xfrm>
          <a:prstGeom prst="roundRect">
            <a:avLst>
              <a:gd fmla="val 9898" name="adj"/>
            </a:avLst>
          </a:prstGeom>
          <a:noFill/>
          <a:ln>
            <a:noFill/>
          </a:ln>
        </p:spPr>
      </p:pic>
      <p:pic>
        <p:nvPicPr>
          <p:cNvPr id="465" name="Google Shape;465;p50"/>
          <p:cNvPicPr preferRelativeResize="0"/>
          <p:nvPr/>
        </p:nvPicPr>
        <p:blipFill rotWithShape="1">
          <a:blip r:embed="rId3">
            <a:alphaModFix amt="10000"/>
          </a:blip>
          <a:srcRect b="19824" l="1069" r="80230" t="14704"/>
          <a:stretch/>
        </p:blipFill>
        <p:spPr>
          <a:xfrm>
            <a:off x="3756400" y="1743975"/>
            <a:ext cx="1623600" cy="3039900"/>
          </a:xfrm>
          <a:prstGeom prst="roundRect">
            <a:avLst>
              <a:gd fmla="val 9898" name="adj"/>
            </a:avLst>
          </a:prstGeom>
          <a:noFill/>
          <a:ln>
            <a:noFill/>
          </a:ln>
        </p:spPr>
      </p:pic>
      <p:pic>
        <p:nvPicPr>
          <p:cNvPr id="466" name="Google Shape;466;p50"/>
          <p:cNvPicPr preferRelativeResize="0"/>
          <p:nvPr/>
        </p:nvPicPr>
        <p:blipFill rotWithShape="1">
          <a:blip r:embed="rId3">
            <a:alphaModFix amt="10000"/>
          </a:blip>
          <a:srcRect b="19824" l="1069" r="80230" t="14704"/>
          <a:stretch/>
        </p:blipFill>
        <p:spPr>
          <a:xfrm>
            <a:off x="5494200" y="1743975"/>
            <a:ext cx="1623600" cy="3039900"/>
          </a:xfrm>
          <a:prstGeom prst="roundRect">
            <a:avLst>
              <a:gd fmla="val 9898" name="adj"/>
            </a:avLst>
          </a:prstGeom>
          <a:noFill/>
          <a:ln>
            <a:noFill/>
          </a:ln>
        </p:spPr>
      </p:pic>
      <p:pic>
        <p:nvPicPr>
          <p:cNvPr id="467" name="Google Shape;467;p50"/>
          <p:cNvPicPr preferRelativeResize="0"/>
          <p:nvPr/>
        </p:nvPicPr>
        <p:blipFill rotWithShape="1">
          <a:blip r:embed="rId3">
            <a:alphaModFix amt="10000"/>
          </a:blip>
          <a:srcRect b="19824" l="1069" r="80230" t="14704"/>
          <a:stretch/>
        </p:blipFill>
        <p:spPr>
          <a:xfrm>
            <a:off x="7232000" y="1743975"/>
            <a:ext cx="1623600" cy="3039900"/>
          </a:xfrm>
          <a:prstGeom prst="roundRect">
            <a:avLst>
              <a:gd fmla="val 9898" name="adj"/>
            </a:avLst>
          </a:prstGeom>
          <a:noFill/>
          <a:ln>
            <a:noFill/>
          </a:ln>
        </p:spPr>
      </p:pic>
      <p:sp>
        <p:nvSpPr>
          <p:cNvPr id="468" name="Google Shape;468;p50"/>
          <p:cNvSpPr/>
          <p:nvPr/>
        </p:nvSpPr>
        <p:spPr>
          <a:xfrm>
            <a:off x="446761"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69" name="Google Shape;469;p50"/>
          <p:cNvSpPr/>
          <p:nvPr/>
        </p:nvSpPr>
        <p:spPr>
          <a:xfrm>
            <a:off x="491620"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1</a:t>
            </a:r>
            <a:endParaRPr sz="1800">
              <a:solidFill>
                <a:schemeClr val="dk1"/>
              </a:solidFill>
              <a:latin typeface="Arimo"/>
              <a:ea typeface="Arimo"/>
              <a:cs typeface="Arimo"/>
              <a:sym typeface="Arimo"/>
            </a:endParaRPr>
          </a:p>
        </p:txBody>
      </p:sp>
      <p:grpSp>
        <p:nvGrpSpPr>
          <p:cNvPr id="470" name="Google Shape;470;p50"/>
          <p:cNvGrpSpPr/>
          <p:nvPr/>
        </p:nvGrpSpPr>
        <p:grpSpPr>
          <a:xfrm>
            <a:off x="2196150" y="1919375"/>
            <a:ext cx="514500" cy="514500"/>
            <a:chOff x="2196150" y="1919375"/>
            <a:chExt cx="514500" cy="514500"/>
          </a:xfrm>
        </p:grpSpPr>
        <p:sp>
          <p:nvSpPr>
            <p:cNvPr id="471" name="Google Shape;471;p50"/>
            <p:cNvSpPr/>
            <p:nvPr/>
          </p:nvSpPr>
          <p:spPr>
            <a:xfrm>
              <a:off x="21961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sp>
          <p:nvSpPr>
            <p:cNvPr id="472" name="Google Shape;472;p50"/>
            <p:cNvSpPr/>
            <p:nvPr/>
          </p:nvSpPr>
          <p:spPr>
            <a:xfrm>
              <a:off x="22410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2</a:t>
              </a:r>
              <a:endParaRPr sz="1800">
                <a:solidFill>
                  <a:schemeClr val="dk1"/>
                </a:solidFill>
                <a:latin typeface="Arimo"/>
                <a:ea typeface="Arimo"/>
                <a:cs typeface="Arimo"/>
                <a:sym typeface="Arimo"/>
              </a:endParaRPr>
            </a:p>
          </p:txBody>
        </p:sp>
      </p:grpSp>
      <p:grpSp>
        <p:nvGrpSpPr>
          <p:cNvPr id="473" name="Google Shape;473;p50"/>
          <p:cNvGrpSpPr/>
          <p:nvPr/>
        </p:nvGrpSpPr>
        <p:grpSpPr>
          <a:xfrm>
            <a:off x="3936800" y="1919375"/>
            <a:ext cx="514500" cy="514500"/>
            <a:chOff x="3936800" y="1919375"/>
            <a:chExt cx="514500" cy="514500"/>
          </a:xfrm>
        </p:grpSpPr>
        <p:sp>
          <p:nvSpPr>
            <p:cNvPr id="474" name="Google Shape;474;p50"/>
            <p:cNvSpPr/>
            <p:nvPr/>
          </p:nvSpPr>
          <p:spPr>
            <a:xfrm>
              <a:off x="39368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75" name="Google Shape;475;p50"/>
            <p:cNvSpPr/>
            <p:nvPr/>
          </p:nvSpPr>
          <p:spPr>
            <a:xfrm>
              <a:off x="39816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3</a:t>
              </a:r>
              <a:endParaRPr sz="1800">
                <a:solidFill>
                  <a:schemeClr val="dk1"/>
                </a:solidFill>
                <a:latin typeface="Arimo"/>
                <a:ea typeface="Arimo"/>
                <a:cs typeface="Arimo"/>
                <a:sym typeface="Arimo"/>
              </a:endParaRPr>
            </a:p>
          </p:txBody>
        </p:sp>
      </p:grpSp>
      <p:grpSp>
        <p:nvGrpSpPr>
          <p:cNvPr id="476" name="Google Shape;476;p50"/>
          <p:cNvGrpSpPr/>
          <p:nvPr/>
        </p:nvGrpSpPr>
        <p:grpSpPr>
          <a:xfrm>
            <a:off x="5677450" y="1919375"/>
            <a:ext cx="514500" cy="514500"/>
            <a:chOff x="5677450" y="1919375"/>
            <a:chExt cx="514500" cy="514500"/>
          </a:xfrm>
        </p:grpSpPr>
        <p:sp>
          <p:nvSpPr>
            <p:cNvPr id="477" name="Google Shape;477;p50"/>
            <p:cNvSpPr/>
            <p:nvPr/>
          </p:nvSpPr>
          <p:spPr>
            <a:xfrm>
              <a:off x="56774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78" name="Google Shape;478;p50"/>
            <p:cNvSpPr/>
            <p:nvPr/>
          </p:nvSpPr>
          <p:spPr>
            <a:xfrm>
              <a:off x="57223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4</a:t>
              </a:r>
              <a:endParaRPr sz="1800">
                <a:solidFill>
                  <a:schemeClr val="dk1"/>
                </a:solidFill>
                <a:latin typeface="Arimo"/>
                <a:ea typeface="Arimo"/>
                <a:cs typeface="Arimo"/>
                <a:sym typeface="Arimo"/>
              </a:endParaRPr>
            </a:p>
          </p:txBody>
        </p:sp>
      </p:grpSp>
      <p:grpSp>
        <p:nvGrpSpPr>
          <p:cNvPr id="479" name="Google Shape;479;p50"/>
          <p:cNvGrpSpPr/>
          <p:nvPr/>
        </p:nvGrpSpPr>
        <p:grpSpPr>
          <a:xfrm>
            <a:off x="7418100" y="1919375"/>
            <a:ext cx="514500" cy="514500"/>
            <a:chOff x="7418100" y="1919375"/>
            <a:chExt cx="514500" cy="514500"/>
          </a:xfrm>
        </p:grpSpPr>
        <p:sp>
          <p:nvSpPr>
            <p:cNvPr id="480" name="Google Shape;480;p50"/>
            <p:cNvSpPr/>
            <p:nvPr/>
          </p:nvSpPr>
          <p:spPr>
            <a:xfrm>
              <a:off x="74181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81" name="Google Shape;481;p50"/>
            <p:cNvSpPr/>
            <p:nvPr/>
          </p:nvSpPr>
          <p:spPr>
            <a:xfrm>
              <a:off x="74629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5</a:t>
              </a:r>
              <a:endParaRPr sz="1800">
                <a:solidFill>
                  <a:schemeClr val="dk1"/>
                </a:solidFill>
                <a:latin typeface="Arimo"/>
                <a:ea typeface="Arimo"/>
                <a:cs typeface="Arimo"/>
                <a:sym typeface="Arimo"/>
              </a:endParaRPr>
            </a:p>
          </p:txBody>
        </p:sp>
      </p:grpSp>
      <p:sp>
        <p:nvSpPr>
          <p:cNvPr id="482" name="Google Shape;482;p50"/>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Non-Functional Requirements</a:t>
            </a:r>
            <a:endParaRPr/>
          </a:p>
        </p:txBody>
      </p:sp>
      <p:sp>
        <p:nvSpPr>
          <p:cNvPr id="483" name="Google Shape;483;p50"/>
          <p:cNvSpPr txBox="1"/>
          <p:nvPr>
            <p:ph idx="1" type="subTitle"/>
          </p:nvPr>
        </p:nvSpPr>
        <p:spPr>
          <a:xfrm>
            <a:off x="421311"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Usability</a:t>
            </a:r>
            <a:endParaRPr/>
          </a:p>
        </p:txBody>
      </p:sp>
      <p:sp>
        <p:nvSpPr>
          <p:cNvPr id="484" name="Google Shape;484;p50"/>
          <p:cNvSpPr txBox="1"/>
          <p:nvPr>
            <p:ph idx="2" type="subTitle"/>
          </p:nvPr>
        </p:nvSpPr>
        <p:spPr>
          <a:xfrm>
            <a:off x="216170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Performance</a:t>
            </a:r>
            <a:endParaRPr/>
          </a:p>
        </p:txBody>
      </p:sp>
      <p:sp>
        <p:nvSpPr>
          <p:cNvPr id="485" name="Google Shape;485;p50"/>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Dependability</a:t>
            </a:r>
            <a:endParaRPr/>
          </a:p>
        </p:txBody>
      </p:sp>
      <p:sp>
        <p:nvSpPr>
          <p:cNvPr id="486" name="Google Shape;486;p50"/>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Security</a:t>
            </a:r>
            <a:endParaRPr/>
          </a:p>
        </p:txBody>
      </p:sp>
      <p:sp>
        <p:nvSpPr>
          <p:cNvPr id="487" name="Google Shape;487;p50"/>
          <p:cNvSpPr txBox="1"/>
          <p:nvPr>
            <p:ph idx="5" type="subTitle"/>
          </p:nvPr>
        </p:nvSpPr>
        <p:spPr>
          <a:xfrm>
            <a:off x="7369130" y="2936625"/>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Ethical</a:t>
            </a:r>
            <a:endParaRPr/>
          </a:p>
        </p:txBody>
      </p:sp>
      <p:sp>
        <p:nvSpPr>
          <p:cNvPr id="488" name="Google Shape;488;p50"/>
          <p:cNvSpPr txBox="1"/>
          <p:nvPr>
            <p:ph idx="6" type="body"/>
          </p:nvPr>
        </p:nvSpPr>
        <p:spPr>
          <a:xfrm>
            <a:off x="421311" y="3433000"/>
            <a:ext cx="1337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system shall allow users to check their account balance within 3-4 clicks</a:t>
            </a:r>
            <a:endParaRPr/>
          </a:p>
        </p:txBody>
      </p:sp>
      <p:sp>
        <p:nvSpPr>
          <p:cNvPr id="489" name="Google Shape;489;p50"/>
          <p:cNvSpPr txBox="1"/>
          <p:nvPr>
            <p:ph idx="7" type="body"/>
          </p:nvPr>
        </p:nvSpPr>
        <p:spPr>
          <a:xfrm>
            <a:off x="2167325" y="3433000"/>
            <a:ext cx="1337400" cy="600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system shall load transaction searches within 3 seconds</a:t>
            </a:r>
            <a:endParaRPr/>
          </a:p>
        </p:txBody>
      </p:sp>
      <p:sp>
        <p:nvSpPr>
          <p:cNvPr id="490" name="Google Shape;490;p50"/>
          <p:cNvSpPr txBox="1"/>
          <p:nvPr>
            <p:ph idx="8" type="body"/>
          </p:nvPr>
        </p:nvSpPr>
        <p:spPr>
          <a:xfrm>
            <a:off x="3903300" y="3433000"/>
            <a:ext cx="1337400" cy="461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system shall maintain 99% uptime.</a:t>
            </a:r>
            <a:endParaRPr/>
          </a:p>
        </p:txBody>
      </p:sp>
      <p:sp>
        <p:nvSpPr>
          <p:cNvPr id="491" name="Google Shape;491;p50"/>
          <p:cNvSpPr txBox="1"/>
          <p:nvPr>
            <p:ph idx="9" type="body"/>
          </p:nvPr>
        </p:nvSpPr>
        <p:spPr>
          <a:xfrm>
            <a:off x="5648625" y="3433000"/>
            <a:ext cx="1337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system must encrypt all stored data and shall hash all user passwords</a:t>
            </a:r>
            <a:endParaRPr/>
          </a:p>
        </p:txBody>
      </p:sp>
      <p:sp>
        <p:nvSpPr>
          <p:cNvPr id="492" name="Google Shape;492;p50"/>
          <p:cNvSpPr txBox="1"/>
          <p:nvPr>
            <p:ph idx="13" type="body"/>
          </p:nvPr>
        </p:nvSpPr>
        <p:spPr>
          <a:xfrm>
            <a:off x="7385291"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a:t>The system must comply with current US banking regulations, and must comply with applicable data protection laws.</a:t>
            </a:r>
            <a:endParaRPr/>
          </a:p>
        </p:txBody>
      </p:sp>
      <p:sp>
        <p:nvSpPr>
          <p:cNvPr id="493" name="Google Shape;493;p5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1"/>
          <p:cNvSpPr txBox="1"/>
          <p:nvPr>
            <p:ph type="title"/>
          </p:nvPr>
        </p:nvSpPr>
        <p:spPr>
          <a:xfrm>
            <a:off x="114150" y="416250"/>
            <a:ext cx="56094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Customer/User</a:t>
            </a:r>
            <a:endParaRPr/>
          </a:p>
        </p:txBody>
      </p:sp>
      <p:pic>
        <p:nvPicPr>
          <p:cNvPr id="499" name="Google Shape;499;p51"/>
          <p:cNvPicPr preferRelativeResize="0"/>
          <p:nvPr/>
        </p:nvPicPr>
        <p:blipFill rotWithShape="1">
          <a:blip r:embed="rId3">
            <a:alphaModFix/>
          </a:blip>
          <a:srcRect b="0" l="27373" r="49201" t="0"/>
          <a:stretch/>
        </p:blipFill>
        <p:spPr>
          <a:xfrm>
            <a:off x="5821100" y="280500"/>
            <a:ext cx="2800500" cy="4582500"/>
          </a:xfrm>
          <a:prstGeom prst="roundRect">
            <a:avLst>
              <a:gd fmla="val 9632" name="adj"/>
            </a:avLst>
          </a:prstGeom>
          <a:noFill/>
          <a:ln>
            <a:noFill/>
          </a:ln>
        </p:spPr>
      </p:pic>
      <p:sp>
        <p:nvSpPr>
          <p:cNvPr id="500" name="Google Shape;500;p51"/>
          <p:cNvSpPr/>
          <p:nvPr/>
        </p:nvSpPr>
        <p:spPr>
          <a:xfrm>
            <a:off x="6015850" y="45795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01" name="Google Shape;501;p51"/>
          <p:cNvSpPr txBox="1"/>
          <p:nvPr/>
        </p:nvSpPr>
        <p:spPr>
          <a:xfrm>
            <a:off x="6728350" y="513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solidFill>
                  <a:schemeClr val="dk1"/>
                </a:solidFill>
                <a:latin typeface="Arimo"/>
                <a:ea typeface="Arimo"/>
                <a:cs typeface="Arimo"/>
                <a:sym typeface="Arimo"/>
              </a:rPr>
              <a:t>Customer/User</a:t>
            </a:r>
            <a:endParaRPr sz="1700">
              <a:solidFill>
                <a:schemeClr val="dk1"/>
              </a:solidFill>
              <a:latin typeface="Arimo"/>
              <a:ea typeface="Arimo"/>
              <a:cs typeface="Arimo"/>
              <a:sym typeface="Arimo"/>
            </a:endParaRPr>
          </a:p>
        </p:txBody>
      </p:sp>
      <p:pic>
        <p:nvPicPr>
          <p:cNvPr id="502" name="Google Shape;502;p51" title="Banking App Use case(1).png"/>
          <p:cNvPicPr preferRelativeResize="0"/>
          <p:nvPr/>
        </p:nvPicPr>
        <p:blipFill>
          <a:blip r:embed="rId4">
            <a:alphaModFix/>
          </a:blip>
          <a:stretch>
            <a:fillRect/>
          </a:stretch>
        </p:blipFill>
        <p:spPr>
          <a:xfrm>
            <a:off x="5557000" y="-14384"/>
            <a:ext cx="1630199" cy="1657172"/>
          </a:xfrm>
          <a:prstGeom prst="rect">
            <a:avLst/>
          </a:prstGeom>
          <a:noFill/>
          <a:ln>
            <a:noFill/>
          </a:ln>
        </p:spPr>
      </p:pic>
      <p:grpSp>
        <p:nvGrpSpPr>
          <p:cNvPr id="503" name="Google Shape;503;p51"/>
          <p:cNvGrpSpPr/>
          <p:nvPr/>
        </p:nvGrpSpPr>
        <p:grpSpPr>
          <a:xfrm>
            <a:off x="5827250" y="1376150"/>
            <a:ext cx="2788200" cy="3212900"/>
            <a:chOff x="3155825" y="1386575"/>
            <a:chExt cx="2788200" cy="3212900"/>
          </a:xfrm>
        </p:grpSpPr>
        <p:cxnSp>
          <p:nvCxnSpPr>
            <p:cNvPr id="504" name="Google Shape;504;p51"/>
            <p:cNvCxnSpPr/>
            <p:nvPr/>
          </p:nvCxnSpPr>
          <p:spPr>
            <a:xfrm>
              <a:off x="3155825" y="1386575"/>
              <a:ext cx="2788200" cy="0"/>
            </a:xfrm>
            <a:prstGeom prst="straightConnector1">
              <a:avLst/>
            </a:prstGeom>
            <a:noFill/>
            <a:ln cap="flat" cmpd="sng" w="9525">
              <a:solidFill>
                <a:schemeClr val="dk2"/>
              </a:solidFill>
              <a:prstDash val="solid"/>
              <a:round/>
              <a:headEnd len="med" w="med" type="none"/>
              <a:tailEnd len="med" w="med" type="none"/>
            </a:ln>
          </p:spPr>
        </p:cxnSp>
        <p:sp>
          <p:nvSpPr>
            <p:cNvPr id="505" name="Google Shape;505;p51"/>
            <p:cNvSpPr txBox="1"/>
            <p:nvPr/>
          </p:nvSpPr>
          <p:spPr>
            <a:xfrm>
              <a:off x="3329368" y="1592275"/>
              <a:ext cx="2477400" cy="3007200"/>
            </a:xfrm>
            <a:prstGeom prst="rect">
              <a:avLst/>
            </a:prstGeom>
            <a:noFill/>
            <a:ln>
              <a:noFill/>
            </a:ln>
          </p:spPr>
          <p:txBody>
            <a:bodyPr anchorCtr="0" anchor="t" bIns="91425" lIns="91425" spcFirstLastPara="1" rIns="91425" wrap="square" tIns="91425">
              <a:noAutofit/>
            </a:bodyPr>
            <a:lstStyle/>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The Customer/User will have their own view of software</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Customer can perform the key actions such as withdrawing, depositing, and viewing balances.</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Able to manage account settings and preferences.</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Include additional functionality such as applying for loans, credit cards and </a:t>
              </a:r>
              <a:r>
                <a:rPr lang="en" sz="1200">
                  <a:solidFill>
                    <a:schemeClr val="dk1"/>
                  </a:solidFill>
                  <a:latin typeface="Arimo"/>
                  <a:ea typeface="Arimo"/>
                  <a:cs typeface="Arimo"/>
                  <a:sym typeface="Arimo"/>
                </a:rPr>
                <a:t>transfer</a:t>
              </a:r>
              <a:r>
                <a:rPr lang="en" sz="1200">
                  <a:solidFill>
                    <a:schemeClr val="dk1"/>
                  </a:solidFill>
                  <a:latin typeface="Arimo"/>
                  <a:ea typeface="Arimo"/>
                  <a:cs typeface="Arimo"/>
                  <a:sym typeface="Arimo"/>
                </a:rPr>
                <a:t> of funds</a:t>
              </a:r>
              <a:endParaRPr sz="1200">
                <a:solidFill>
                  <a:schemeClr val="dk1"/>
                </a:solidFill>
                <a:latin typeface="Arimo"/>
                <a:ea typeface="Arimo"/>
                <a:cs typeface="Arimo"/>
                <a:sym typeface="Arimo"/>
              </a:endParaRPr>
            </a:p>
          </p:txBody>
        </p:sp>
      </p:grpSp>
      <p:pic>
        <p:nvPicPr>
          <p:cNvPr id="506" name="Google Shape;506;p51" title="Banking App Use case(2).png"/>
          <p:cNvPicPr preferRelativeResize="0"/>
          <p:nvPr/>
        </p:nvPicPr>
        <p:blipFill rotWithShape="1">
          <a:blip r:embed="rId5">
            <a:alphaModFix/>
          </a:blip>
          <a:srcRect b="14674" l="12229" r="12650" t="15512"/>
          <a:stretch/>
        </p:blipFill>
        <p:spPr>
          <a:xfrm>
            <a:off x="356600" y="1232237"/>
            <a:ext cx="5124495" cy="35007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2"/>
          <p:cNvSpPr txBox="1"/>
          <p:nvPr>
            <p:ph type="title"/>
          </p:nvPr>
        </p:nvSpPr>
        <p:spPr>
          <a:xfrm>
            <a:off x="114150" y="416250"/>
            <a:ext cx="56094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Bank Employee</a:t>
            </a:r>
            <a:endParaRPr/>
          </a:p>
        </p:txBody>
      </p:sp>
      <p:pic>
        <p:nvPicPr>
          <p:cNvPr id="512" name="Google Shape;512;p52"/>
          <p:cNvPicPr preferRelativeResize="0"/>
          <p:nvPr/>
        </p:nvPicPr>
        <p:blipFill rotWithShape="1">
          <a:blip r:embed="rId3">
            <a:alphaModFix/>
          </a:blip>
          <a:srcRect b="0" l="27373" r="49201" t="0"/>
          <a:stretch/>
        </p:blipFill>
        <p:spPr>
          <a:xfrm>
            <a:off x="5821100" y="280500"/>
            <a:ext cx="2800500" cy="4582500"/>
          </a:xfrm>
          <a:prstGeom prst="roundRect">
            <a:avLst>
              <a:gd fmla="val 9632" name="adj"/>
            </a:avLst>
          </a:prstGeom>
          <a:noFill/>
          <a:ln>
            <a:noFill/>
          </a:ln>
        </p:spPr>
      </p:pic>
      <p:sp>
        <p:nvSpPr>
          <p:cNvPr id="513" name="Google Shape;513;p52"/>
          <p:cNvSpPr/>
          <p:nvPr/>
        </p:nvSpPr>
        <p:spPr>
          <a:xfrm>
            <a:off x="6015850" y="45795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14" name="Google Shape;514;p52"/>
          <p:cNvSpPr txBox="1"/>
          <p:nvPr/>
        </p:nvSpPr>
        <p:spPr>
          <a:xfrm>
            <a:off x="6728350" y="513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solidFill>
                  <a:schemeClr val="dk1"/>
                </a:solidFill>
                <a:latin typeface="Arimo"/>
                <a:ea typeface="Arimo"/>
                <a:cs typeface="Arimo"/>
                <a:sym typeface="Arimo"/>
              </a:rPr>
              <a:t>Bank Employee</a:t>
            </a:r>
            <a:endParaRPr sz="1700">
              <a:solidFill>
                <a:schemeClr val="dk1"/>
              </a:solidFill>
              <a:latin typeface="Arimo"/>
              <a:ea typeface="Arimo"/>
              <a:cs typeface="Arimo"/>
              <a:sym typeface="Arimo"/>
            </a:endParaRPr>
          </a:p>
        </p:txBody>
      </p:sp>
      <p:pic>
        <p:nvPicPr>
          <p:cNvPr id="515" name="Google Shape;515;p52" title="Banking App Use case(1).png"/>
          <p:cNvPicPr preferRelativeResize="0"/>
          <p:nvPr/>
        </p:nvPicPr>
        <p:blipFill>
          <a:blip r:embed="rId4">
            <a:alphaModFix/>
          </a:blip>
          <a:stretch>
            <a:fillRect/>
          </a:stretch>
        </p:blipFill>
        <p:spPr>
          <a:xfrm>
            <a:off x="5557000" y="-14384"/>
            <a:ext cx="1630199" cy="1657172"/>
          </a:xfrm>
          <a:prstGeom prst="rect">
            <a:avLst/>
          </a:prstGeom>
          <a:noFill/>
          <a:ln>
            <a:noFill/>
          </a:ln>
        </p:spPr>
      </p:pic>
      <p:grpSp>
        <p:nvGrpSpPr>
          <p:cNvPr id="516" name="Google Shape;516;p52"/>
          <p:cNvGrpSpPr/>
          <p:nvPr/>
        </p:nvGrpSpPr>
        <p:grpSpPr>
          <a:xfrm>
            <a:off x="5827250" y="1376150"/>
            <a:ext cx="2788200" cy="3212900"/>
            <a:chOff x="3155825" y="1386575"/>
            <a:chExt cx="2788200" cy="3212900"/>
          </a:xfrm>
        </p:grpSpPr>
        <p:cxnSp>
          <p:nvCxnSpPr>
            <p:cNvPr id="517" name="Google Shape;517;p52"/>
            <p:cNvCxnSpPr/>
            <p:nvPr/>
          </p:nvCxnSpPr>
          <p:spPr>
            <a:xfrm>
              <a:off x="3155825" y="1386575"/>
              <a:ext cx="2788200" cy="0"/>
            </a:xfrm>
            <a:prstGeom prst="straightConnector1">
              <a:avLst/>
            </a:prstGeom>
            <a:noFill/>
            <a:ln cap="flat" cmpd="sng" w="9525">
              <a:solidFill>
                <a:schemeClr val="dk2"/>
              </a:solidFill>
              <a:prstDash val="solid"/>
              <a:round/>
              <a:headEnd len="med" w="med" type="none"/>
              <a:tailEnd len="med" w="med" type="none"/>
            </a:ln>
          </p:spPr>
        </p:cxnSp>
        <p:sp>
          <p:nvSpPr>
            <p:cNvPr id="518" name="Google Shape;518;p52"/>
            <p:cNvSpPr txBox="1"/>
            <p:nvPr/>
          </p:nvSpPr>
          <p:spPr>
            <a:xfrm>
              <a:off x="3311225" y="1592275"/>
              <a:ext cx="2477400" cy="3007200"/>
            </a:xfrm>
            <a:prstGeom prst="rect">
              <a:avLst/>
            </a:prstGeom>
            <a:noFill/>
            <a:ln>
              <a:noFill/>
            </a:ln>
          </p:spPr>
          <p:txBody>
            <a:bodyPr anchorCtr="0" anchor="t" bIns="91425" lIns="91425" spcFirstLastPara="1" rIns="91425" wrap="square" tIns="91425">
              <a:noAutofit/>
            </a:bodyPr>
            <a:lstStyle/>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Authentication</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Bank employees login to access a view </a:t>
              </a:r>
              <a:r>
                <a:rPr lang="en" sz="1200">
                  <a:solidFill>
                    <a:schemeClr val="dk1"/>
                  </a:solidFill>
                  <a:latin typeface="Arimo"/>
                  <a:ea typeface="Arimo"/>
                  <a:cs typeface="Arimo"/>
                  <a:sym typeface="Arimo"/>
                </a:rPr>
                <a:t>separate</a:t>
              </a:r>
              <a:r>
                <a:rPr lang="en" sz="1200">
                  <a:solidFill>
                    <a:schemeClr val="dk1"/>
                  </a:solidFill>
                  <a:latin typeface="Arimo"/>
                  <a:ea typeface="Arimo"/>
                  <a:cs typeface="Arimo"/>
                  <a:sym typeface="Arimo"/>
                </a:rPr>
                <a:t> from the customer</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Manages their customers accounts.</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Can approve loan and credit card applications</a:t>
              </a:r>
              <a:endParaRPr sz="1200">
                <a:solidFill>
                  <a:schemeClr val="dk1"/>
                </a:solidFill>
                <a:latin typeface="Arimo"/>
                <a:ea typeface="Arimo"/>
                <a:cs typeface="Arimo"/>
                <a:sym typeface="Arimo"/>
              </a:endParaRPr>
            </a:p>
          </p:txBody>
        </p:sp>
      </p:grpSp>
      <p:pic>
        <p:nvPicPr>
          <p:cNvPr id="519" name="Google Shape;519;p52" title="Banking App Use case(3).png"/>
          <p:cNvPicPr preferRelativeResize="0"/>
          <p:nvPr/>
        </p:nvPicPr>
        <p:blipFill rotWithShape="1">
          <a:blip r:embed="rId5">
            <a:alphaModFix/>
          </a:blip>
          <a:srcRect b="19747" l="16648" r="16110" t="18462"/>
          <a:stretch/>
        </p:blipFill>
        <p:spPr>
          <a:xfrm>
            <a:off x="522775" y="1164400"/>
            <a:ext cx="4714874" cy="36364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3"/>
          <p:cNvSpPr txBox="1"/>
          <p:nvPr>
            <p:ph type="title"/>
          </p:nvPr>
        </p:nvSpPr>
        <p:spPr>
          <a:xfrm>
            <a:off x="114150" y="416250"/>
            <a:ext cx="56094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BankIT</a:t>
            </a:r>
            <a:endParaRPr/>
          </a:p>
        </p:txBody>
      </p:sp>
      <p:pic>
        <p:nvPicPr>
          <p:cNvPr id="525" name="Google Shape;525;p53"/>
          <p:cNvPicPr preferRelativeResize="0"/>
          <p:nvPr/>
        </p:nvPicPr>
        <p:blipFill rotWithShape="1">
          <a:blip r:embed="rId3">
            <a:alphaModFix/>
          </a:blip>
          <a:srcRect b="0" l="27373" r="49201" t="0"/>
          <a:stretch/>
        </p:blipFill>
        <p:spPr>
          <a:xfrm>
            <a:off x="5821100" y="280500"/>
            <a:ext cx="2800500" cy="4582500"/>
          </a:xfrm>
          <a:prstGeom prst="roundRect">
            <a:avLst>
              <a:gd fmla="val 9632" name="adj"/>
            </a:avLst>
          </a:prstGeom>
          <a:noFill/>
          <a:ln>
            <a:noFill/>
          </a:ln>
        </p:spPr>
      </p:pic>
      <p:sp>
        <p:nvSpPr>
          <p:cNvPr id="526" name="Google Shape;526;p53"/>
          <p:cNvSpPr/>
          <p:nvPr/>
        </p:nvSpPr>
        <p:spPr>
          <a:xfrm>
            <a:off x="6015850" y="45795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27" name="Google Shape;527;p53"/>
          <p:cNvSpPr txBox="1"/>
          <p:nvPr/>
        </p:nvSpPr>
        <p:spPr>
          <a:xfrm>
            <a:off x="6728350" y="513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solidFill>
                  <a:schemeClr val="dk1"/>
                </a:solidFill>
                <a:latin typeface="Arimo"/>
                <a:ea typeface="Arimo"/>
                <a:cs typeface="Arimo"/>
                <a:sym typeface="Arimo"/>
              </a:rPr>
              <a:t>Bank IT Employee</a:t>
            </a:r>
            <a:endParaRPr sz="1700">
              <a:solidFill>
                <a:schemeClr val="dk1"/>
              </a:solidFill>
              <a:latin typeface="Arimo"/>
              <a:ea typeface="Arimo"/>
              <a:cs typeface="Arimo"/>
              <a:sym typeface="Arimo"/>
            </a:endParaRPr>
          </a:p>
        </p:txBody>
      </p:sp>
      <p:pic>
        <p:nvPicPr>
          <p:cNvPr id="528" name="Google Shape;528;p53" title="Banking App Use case(1).png"/>
          <p:cNvPicPr preferRelativeResize="0"/>
          <p:nvPr/>
        </p:nvPicPr>
        <p:blipFill>
          <a:blip r:embed="rId4">
            <a:alphaModFix/>
          </a:blip>
          <a:stretch>
            <a:fillRect/>
          </a:stretch>
        </p:blipFill>
        <p:spPr>
          <a:xfrm>
            <a:off x="5557000" y="-14384"/>
            <a:ext cx="1630199" cy="1657172"/>
          </a:xfrm>
          <a:prstGeom prst="rect">
            <a:avLst/>
          </a:prstGeom>
          <a:noFill/>
          <a:ln>
            <a:noFill/>
          </a:ln>
        </p:spPr>
      </p:pic>
      <p:grpSp>
        <p:nvGrpSpPr>
          <p:cNvPr id="529" name="Google Shape;529;p53"/>
          <p:cNvGrpSpPr/>
          <p:nvPr/>
        </p:nvGrpSpPr>
        <p:grpSpPr>
          <a:xfrm>
            <a:off x="5827250" y="1376150"/>
            <a:ext cx="2788200" cy="3212925"/>
            <a:chOff x="3155825" y="1386575"/>
            <a:chExt cx="2788200" cy="3212925"/>
          </a:xfrm>
        </p:grpSpPr>
        <p:cxnSp>
          <p:nvCxnSpPr>
            <p:cNvPr id="530" name="Google Shape;530;p53"/>
            <p:cNvCxnSpPr/>
            <p:nvPr/>
          </p:nvCxnSpPr>
          <p:spPr>
            <a:xfrm>
              <a:off x="3155825" y="1386575"/>
              <a:ext cx="2788200" cy="0"/>
            </a:xfrm>
            <a:prstGeom prst="straightConnector1">
              <a:avLst/>
            </a:prstGeom>
            <a:noFill/>
            <a:ln cap="flat" cmpd="sng" w="9525">
              <a:solidFill>
                <a:schemeClr val="dk2"/>
              </a:solidFill>
              <a:prstDash val="solid"/>
              <a:round/>
              <a:headEnd len="med" w="med" type="none"/>
              <a:tailEnd len="med" w="med" type="none"/>
            </a:ln>
          </p:spPr>
        </p:cxnSp>
        <p:sp>
          <p:nvSpPr>
            <p:cNvPr id="531" name="Google Shape;531;p53"/>
            <p:cNvSpPr txBox="1"/>
            <p:nvPr/>
          </p:nvSpPr>
          <p:spPr>
            <a:xfrm>
              <a:off x="3235475" y="1442900"/>
              <a:ext cx="2553300" cy="3156600"/>
            </a:xfrm>
            <a:prstGeom prst="rect">
              <a:avLst/>
            </a:prstGeom>
            <a:noFill/>
            <a:ln>
              <a:noFill/>
            </a:ln>
          </p:spPr>
          <p:txBody>
            <a:bodyPr anchorCtr="0" anchor="t" bIns="91425" lIns="91425" spcFirstLastPara="1" rIns="91425" wrap="square" tIns="91425">
              <a:noAutofit/>
            </a:bodyPr>
            <a:lstStyle/>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The Bank IT team have a </a:t>
              </a:r>
              <a:r>
                <a:rPr lang="en" sz="1200">
                  <a:solidFill>
                    <a:schemeClr val="dk1"/>
                  </a:solidFill>
                  <a:latin typeface="Arimo"/>
                  <a:ea typeface="Arimo"/>
                  <a:cs typeface="Arimo"/>
                  <a:sym typeface="Arimo"/>
                </a:rPr>
                <a:t>separate</a:t>
              </a:r>
              <a:r>
                <a:rPr lang="en" sz="1200">
                  <a:solidFill>
                    <a:schemeClr val="dk1"/>
                  </a:solidFill>
                  <a:latin typeface="Arimo"/>
                  <a:ea typeface="Arimo"/>
                  <a:cs typeface="Arimo"/>
                  <a:sym typeface="Arimo"/>
                </a:rPr>
                <a:t> view where they manage various system functionalities</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Login authentication</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Software security</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Server </a:t>
              </a:r>
              <a:r>
                <a:rPr lang="en" sz="1200">
                  <a:solidFill>
                    <a:schemeClr val="dk1"/>
                  </a:solidFill>
                  <a:latin typeface="Arimo"/>
                  <a:ea typeface="Arimo"/>
                  <a:cs typeface="Arimo"/>
                  <a:sym typeface="Arimo"/>
                </a:rPr>
                <a:t>maintenance</a:t>
              </a:r>
              <a:endParaRPr sz="1200">
                <a:solidFill>
                  <a:schemeClr val="dk1"/>
                </a:solidFill>
                <a:latin typeface="Arimo"/>
                <a:ea typeface="Arimo"/>
                <a:cs typeface="Arimo"/>
                <a:sym typeface="Arimo"/>
              </a:endParaRPr>
            </a:p>
            <a:p>
              <a:pPr indent="-304800" lvl="0" marL="27432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Handles data process such as backups and restoration</a:t>
              </a:r>
              <a:endParaRPr sz="1200">
                <a:solidFill>
                  <a:schemeClr val="dk1"/>
                </a:solidFill>
                <a:latin typeface="Arimo"/>
                <a:ea typeface="Arimo"/>
                <a:cs typeface="Arimo"/>
                <a:sym typeface="Arimo"/>
              </a:endParaRPr>
            </a:p>
          </p:txBody>
        </p:sp>
      </p:grpSp>
      <p:pic>
        <p:nvPicPr>
          <p:cNvPr id="532" name="Google Shape;532;p53" title="Banking App Use case(4).png"/>
          <p:cNvPicPr preferRelativeResize="0"/>
          <p:nvPr/>
        </p:nvPicPr>
        <p:blipFill rotWithShape="1">
          <a:blip r:embed="rId5">
            <a:alphaModFix/>
          </a:blip>
          <a:srcRect b="17895" l="16082" r="16654" t="18757"/>
          <a:stretch/>
        </p:blipFill>
        <p:spPr>
          <a:xfrm>
            <a:off x="981825" y="1301412"/>
            <a:ext cx="3874048" cy="33624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4"/>
          <p:cNvSpPr txBox="1"/>
          <p:nvPr>
            <p:ph type="title"/>
          </p:nvPr>
        </p:nvSpPr>
        <p:spPr>
          <a:xfrm>
            <a:off x="237950" y="77850"/>
            <a:ext cx="4626300" cy="399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Sequence Diagram</a:t>
            </a:r>
            <a:endParaRPr/>
          </a:p>
        </p:txBody>
      </p:sp>
      <p:pic>
        <p:nvPicPr>
          <p:cNvPr id="538" name="Google Shape;538;p54"/>
          <p:cNvPicPr preferRelativeResize="0"/>
          <p:nvPr/>
        </p:nvPicPr>
        <p:blipFill rotWithShape="1">
          <a:blip r:embed="rId3">
            <a:alphaModFix/>
          </a:blip>
          <a:srcRect b="0" l="27373" r="49201" t="0"/>
          <a:stretch/>
        </p:blipFill>
        <p:spPr>
          <a:xfrm>
            <a:off x="5821100" y="280500"/>
            <a:ext cx="2800500" cy="4582500"/>
          </a:xfrm>
          <a:prstGeom prst="roundRect">
            <a:avLst>
              <a:gd fmla="val 9632" name="adj"/>
            </a:avLst>
          </a:prstGeom>
          <a:noFill/>
          <a:ln>
            <a:noFill/>
          </a:ln>
        </p:spPr>
      </p:pic>
      <p:sp>
        <p:nvSpPr>
          <p:cNvPr id="539" name="Google Shape;539;p54"/>
          <p:cNvSpPr txBox="1"/>
          <p:nvPr/>
        </p:nvSpPr>
        <p:spPr>
          <a:xfrm>
            <a:off x="6728350" y="513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t/>
            </a:r>
            <a:endParaRPr sz="1700">
              <a:solidFill>
                <a:schemeClr val="dk1"/>
              </a:solidFill>
              <a:latin typeface="Arimo"/>
              <a:ea typeface="Arimo"/>
              <a:cs typeface="Arimo"/>
              <a:sym typeface="Arimo"/>
            </a:endParaRPr>
          </a:p>
        </p:txBody>
      </p:sp>
      <p:sp>
        <p:nvSpPr>
          <p:cNvPr id="540" name="Google Shape;540;p54"/>
          <p:cNvSpPr txBox="1"/>
          <p:nvPr/>
        </p:nvSpPr>
        <p:spPr>
          <a:xfrm>
            <a:off x="5879843" y="863850"/>
            <a:ext cx="2553300" cy="24273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Shows how the user logs in and how every action goes through an authorization check.</a:t>
            </a:r>
            <a:br>
              <a:rPr lang="en" sz="1100">
                <a:solidFill>
                  <a:schemeClr val="dk1"/>
                </a:solidFill>
                <a:latin typeface="Arimo"/>
                <a:ea typeface="Arimo"/>
                <a:cs typeface="Arimo"/>
                <a:sym typeface="Arimo"/>
              </a:rPr>
            </a:br>
            <a:endParaRPr sz="1100">
              <a:solidFill>
                <a:schemeClr val="dk1"/>
              </a:solidFill>
              <a:latin typeface="Arimo"/>
              <a:ea typeface="Arimo"/>
              <a:cs typeface="Arimo"/>
              <a:sym typeface="Arimo"/>
            </a:endParaRPr>
          </a:p>
          <a:p>
            <a:pPr indent="-298450" lvl="0" marL="457200" rtl="0" algn="l">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Displays the process for viewing the account and how the system retrieves data if access is granted.</a:t>
            </a:r>
            <a:br>
              <a:rPr lang="en" sz="1100">
                <a:solidFill>
                  <a:schemeClr val="dk1"/>
                </a:solidFill>
                <a:latin typeface="Arimo"/>
                <a:ea typeface="Arimo"/>
                <a:cs typeface="Arimo"/>
                <a:sym typeface="Arimo"/>
              </a:rPr>
            </a:br>
            <a:endParaRPr sz="1100">
              <a:solidFill>
                <a:schemeClr val="dk1"/>
              </a:solidFill>
              <a:latin typeface="Arimo"/>
              <a:ea typeface="Arimo"/>
              <a:cs typeface="Arimo"/>
              <a:sym typeface="Arimo"/>
            </a:endParaRPr>
          </a:p>
          <a:p>
            <a:pPr indent="-298450" lvl="0" marL="457200" rtl="0" algn="l">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Illustrates the update account flow, where the system verifies the session before updating the database.</a:t>
            </a:r>
            <a:br>
              <a:rPr lang="en" sz="1100">
                <a:solidFill>
                  <a:schemeClr val="dk1"/>
                </a:solidFill>
                <a:latin typeface="Arimo"/>
                <a:ea typeface="Arimo"/>
                <a:cs typeface="Arimo"/>
                <a:sym typeface="Arimo"/>
              </a:rPr>
            </a:br>
            <a:endParaRPr sz="1100">
              <a:solidFill>
                <a:schemeClr val="dk1"/>
              </a:solidFill>
              <a:latin typeface="Arimo"/>
              <a:ea typeface="Arimo"/>
              <a:cs typeface="Arimo"/>
              <a:sym typeface="Arimo"/>
            </a:endParaRPr>
          </a:p>
          <a:p>
            <a:pPr indent="-298450" lvl="0" marL="457200" rtl="0" algn="l">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Highlights that any failed authorization results in access being denied.</a:t>
            </a:r>
            <a:endParaRPr sz="1100">
              <a:solidFill>
                <a:schemeClr val="dk1"/>
              </a:solidFill>
              <a:latin typeface="Arimo"/>
              <a:ea typeface="Arimo"/>
              <a:cs typeface="Arimo"/>
              <a:sym typeface="Arimo"/>
            </a:endParaRPr>
          </a:p>
          <a:p>
            <a:pPr indent="0" lvl="0" marL="0" rtl="0" algn="l">
              <a:spcBef>
                <a:spcPts val="0"/>
              </a:spcBef>
              <a:spcAft>
                <a:spcPts val="0"/>
              </a:spcAft>
              <a:buNone/>
            </a:pPr>
            <a:r>
              <a:t/>
            </a:r>
            <a:endParaRPr sz="1100">
              <a:solidFill>
                <a:schemeClr val="dk1"/>
              </a:solidFill>
              <a:latin typeface="Arimo"/>
              <a:ea typeface="Arimo"/>
              <a:cs typeface="Arimo"/>
              <a:sym typeface="Arimo"/>
            </a:endParaRPr>
          </a:p>
        </p:txBody>
      </p:sp>
      <p:sp>
        <p:nvSpPr>
          <p:cNvPr id="541" name="Google Shape;541;p54"/>
          <p:cNvSpPr txBox="1"/>
          <p:nvPr/>
        </p:nvSpPr>
        <p:spPr>
          <a:xfrm>
            <a:off x="203025" y="1184350"/>
            <a:ext cx="5253600" cy="384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Arimo"/>
              <a:ea typeface="Arimo"/>
              <a:cs typeface="Arimo"/>
              <a:sym typeface="Arimo"/>
            </a:endParaRPr>
          </a:p>
        </p:txBody>
      </p:sp>
      <p:pic>
        <p:nvPicPr>
          <p:cNvPr id="542" name="Google Shape;542;p54" title="mermaid-ai-diagram-2025-11-24-011804.png"/>
          <p:cNvPicPr preferRelativeResize="0"/>
          <p:nvPr/>
        </p:nvPicPr>
        <p:blipFill>
          <a:blip r:embed="rId4">
            <a:alphaModFix/>
          </a:blip>
          <a:stretch>
            <a:fillRect/>
          </a:stretch>
        </p:blipFill>
        <p:spPr>
          <a:xfrm>
            <a:off x="1189150" y="746100"/>
            <a:ext cx="3340743" cy="42788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5"/>
          <p:cNvSpPr txBox="1"/>
          <p:nvPr>
            <p:ph type="title"/>
          </p:nvPr>
        </p:nvSpPr>
        <p:spPr>
          <a:xfrm>
            <a:off x="175975" y="152400"/>
            <a:ext cx="3834000" cy="4296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latin typeface="Playfair Display"/>
                <a:ea typeface="Playfair Display"/>
                <a:cs typeface="Playfair Display"/>
                <a:sym typeface="Playfair Display"/>
              </a:rPr>
              <a:t>Sequence diagram </a:t>
            </a:r>
            <a:endParaRPr>
              <a:latin typeface="Playfair Display"/>
              <a:ea typeface="Playfair Display"/>
              <a:cs typeface="Playfair Display"/>
              <a:sym typeface="Playfair Display"/>
            </a:endParaRPr>
          </a:p>
        </p:txBody>
      </p:sp>
      <p:pic>
        <p:nvPicPr>
          <p:cNvPr id="548" name="Google Shape;548;p55" title="Screenshot 2025-11-23 at 6.34.41 PM.png"/>
          <p:cNvPicPr preferRelativeResize="0"/>
          <p:nvPr/>
        </p:nvPicPr>
        <p:blipFill>
          <a:blip r:embed="rId3">
            <a:alphaModFix/>
          </a:blip>
          <a:stretch>
            <a:fillRect/>
          </a:stretch>
        </p:blipFill>
        <p:spPr>
          <a:xfrm>
            <a:off x="4830700" y="152400"/>
            <a:ext cx="3886944" cy="4838700"/>
          </a:xfrm>
          <a:prstGeom prst="rect">
            <a:avLst/>
          </a:prstGeom>
          <a:noFill/>
          <a:ln>
            <a:noFill/>
          </a:ln>
        </p:spPr>
      </p:pic>
      <p:pic>
        <p:nvPicPr>
          <p:cNvPr id="549" name="Google Shape;549;p55"/>
          <p:cNvPicPr preferRelativeResize="0"/>
          <p:nvPr/>
        </p:nvPicPr>
        <p:blipFill rotWithShape="1">
          <a:blip r:embed="rId4">
            <a:alphaModFix/>
          </a:blip>
          <a:srcRect b="0" l="27373" r="49201" t="0"/>
          <a:stretch/>
        </p:blipFill>
        <p:spPr>
          <a:xfrm>
            <a:off x="346850" y="816000"/>
            <a:ext cx="2673300" cy="4175100"/>
          </a:xfrm>
          <a:prstGeom prst="roundRect">
            <a:avLst>
              <a:gd fmla="val 9632" name="adj"/>
            </a:avLst>
          </a:prstGeom>
          <a:noFill/>
          <a:ln>
            <a:noFill/>
          </a:ln>
        </p:spPr>
      </p:pic>
      <p:sp>
        <p:nvSpPr>
          <p:cNvPr id="550" name="Google Shape;550;p55"/>
          <p:cNvSpPr txBox="1"/>
          <p:nvPr/>
        </p:nvSpPr>
        <p:spPr>
          <a:xfrm>
            <a:off x="600650" y="1378950"/>
            <a:ext cx="1996500" cy="21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This diagram presents how the User, App, Auth Service, Bank System, and Database communicate during withdraw, deposit, login, registration, and fund transfer processes. Activation bars show when each component is actively processing a request.</a:t>
            </a:r>
            <a:endParaRPr sz="12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6"/>
          <p:cNvSpPr txBox="1"/>
          <p:nvPr>
            <p:ph type="title"/>
          </p:nvPr>
        </p:nvSpPr>
        <p:spPr>
          <a:xfrm>
            <a:off x="133675" y="213225"/>
            <a:ext cx="3630900" cy="6666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latin typeface="Playfair Display"/>
                <a:ea typeface="Playfair Display"/>
                <a:cs typeface="Playfair Display"/>
                <a:sym typeface="Playfair Display"/>
              </a:rPr>
              <a:t>Sequence Diagram </a:t>
            </a:r>
            <a:endParaRPr>
              <a:latin typeface="Playfair Display"/>
              <a:ea typeface="Playfair Display"/>
              <a:cs typeface="Playfair Display"/>
              <a:sym typeface="Playfair Display"/>
            </a:endParaRPr>
          </a:p>
        </p:txBody>
      </p:sp>
      <p:pic>
        <p:nvPicPr>
          <p:cNvPr id="556" name="Google Shape;556;p56" title="Screenshot 2025-11-23 at 6.35.26 PM.png"/>
          <p:cNvPicPr preferRelativeResize="0"/>
          <p:nvPr/>
        </p:nvPicPr>
        <p:blipFill>
          <a:blip r:embed="rId3">
            <a:alphaModFix/>
          </a:blip>
          <a:stretch>
            <a:fillRect/>
          </a:stretch>
        </p:blipFill>
        <p:spPr>
          <a:xfrm>
            <a:off x="3587025" y="879825"/>
            <a:ext cx="5107202" cy="3958874"/>
          </a:xfrm>
          <a:prstGeom prst="rect">
            <a:avLst/>
          </a:prstGeom>
          <a:noFill/>
          <a:ln>
            <a:noFill/>
          </a:ln>
        </p:spPr>
      </p:pic>
      <p:pic>
        <p:nvPicPr>
          <p:cNvPr id="557" name="Google Shape;557;p56"/>
          <p:cNvPicPr preferRelativeResize="0"/>
          <p:nvPr/>
        </p:nvPicPr>
        <p:blipFill rotWithShape="1">
          <a:blip r:embed="rId4">
            <a:alphaModFix/>
          </a:blip>
          <a:srcRect b="0" l="27373" r="49201" t="0"/>
          <a:stretch/>
        </p:blipFill>
        <p:spPr>
          <a:xfrm>
            <a:off x="355300" y="901224"/>
            <a:ext cx="2623800" cy="3958800"/>
          </a:xfrm>
          <a:prstGeom prst="roundRect">
            <a:avLst>
              <a:gd fmla="val 9632" name="adj"/>
            </a:avLst>
          </a:prstGeom>
          <a:noFill/>
          <a:ln>
            <a:noFill/>
          </a:ln>
        </p:spPr>
      </p:pic>
      <p:sp>
        <p:nvSpPr>
          <p:cNvPr id="558" name="Google Shape;558;p56"/>
          <p:cNvSpPr txBox="1"/>
          <p:nvPr/>
        </p:nvSpPr>
        <p:spPr>
          <a:xfrm>
            <a:off x="575250" y="1370475"/>
            <a:ext cx="2064300" cy="293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lt1"/>
              </a:buClr>
              <a:buSzPts val="1100"/>
              <a:buFont typeface="Arial"/>
              <a:buNone/>
            </a:pPr>
            <a:r>
              <a:rPr lang="en" sz="1100">
                <a:solidFill>
                  <a:schemeClr val="dk1"/>
                </a:solidFill>
                <a:latin typeface="Arimo"/>
                <a:ea typeface="Arimo"/>
                <a:cs typeface="Arimo"/>
                <a:sym typeface="Arimo"/>
              </a:rPr>
              <a:t>This sequence diagram illustrates how the system handles user login and registration. It shows the message flow between the User, Banking App, Authentication Service, and Database. Activation bars indicate when each component is actively processing the request, highlighting the full interaction sequence from user input to system confirmation.</a:t>
            </a:r>
            <a:endParaRPr sz="1100">
              <a:solidFill>
                <a:schemeClr val="dk1"/>
              </a:solidFill>
              <a:latin typeface="Arimo"/>
              <a:ea typeface="Arimo"/>
              <a:cs typeface="Arimo"/>
              <a:sym typeface="Arimo"/>
            </a:endParaRPr>
          </a:p>
          <a:p>
            <a:pPr indent="0" lvl="0" marL="0" rtl="0" algn="l">
              <a:spcBef>
                <a:spcPts val="1200"/>
              </a:spcBef>
              <a:spcAft>
                <a:spcPts val="0"/>
              </a:spcAft>
              <a:buNone/>
            </a:pPr>
            <a:r>
              <a:t/>
            </a:r>
            <a:endParaRPr sz="1200">
              <a:solidFill>
                <a:schemeClr val="dk1"/>
              </a:solidFill>
              <a:latin typeface="Arimo"/>
              <a:ea typeface="Arimo"/>
              <a:cs typeface="Arimo"/>
              <a:sym typeface="Arim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7"/>
          <p:cNvSpPr txBox="1"/>
          <p:nvPr>
            <p:ph type="title"/>
          </p:nvPr>
        </p:nvSpPr>
        <p:spPr>
          <a:xfrm>
            <a:off x="178725" y="277500"/>
            <a:ext cx="56094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Class diagram</a:t>
            </a:r>
            <a:endParaRPr/>
          </a:p>
        </p:txBody>
      </p:sp>
      <p:pic>
        <p:nvPicPr>
          <p:cNvPr id="564" name="Google Shape;564;p57"/>
          <p:cNvPicPr preferRelativeResize="0"/>
          <p:nvPr/>
        </p:nvPicPr>
        <p:blipFill rotWithShape="1">
          <a:blip r:embed="rId3">
            <a:alphaModFix/>
          </a:blip>
          <a:srcRect b="0" l="27373" r="49201" t="0"/>
          <a:stretch/>
        </p:blipFill>
        <p:spPr>
          <a:xfrm>
            <a:off x="5821100" y="280500"/>
            <a:ext cx="2800500" cy="4582500"/>
          </a:xfrm>
          <a:prstGeom prst="roundRect">
            <a:avLst>
              <a:gd fmla="val 9632" name="adj"/>
            </a:avLst>
          </a:prstGeom>
          <a:noFill/>
          <a:ln>
            <a:noFill/>
          </a:ln>
        </p:spPr>
      </p:pic>
      <p:sp>
        <p:nvSpPr>
          <p:cNvPr id="565" name="Google Shape;565;p57"/>
          <p:cNvSpPr txBox="1"/>
          <p:nvPr/>
        </p:nvSpPr>
        <p:spPr>
          <a:xfrm>
            <a:off x="6728350" y="513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t/>
            </a:r>
            <a:endParaRPr sz="1700">
              <a:solidFill>
                <a:schemeClr val="dk1"/>
              </a:solidFill>
              <a:latin typeface="Arimo"/>
              <a:ea typeface="Arimo"/>
              <a:cs typeface="Arimo"/>
              <a:sym typeface="Arimo"/>
            </a:endParaRPr>
          </a:p>
        </p:txBody>
      </p:sp>
      <p:sp>
        <p:nvSpPr>
          <p:cNvPr id="566" name="Google Shape;566;p57"/>
          <p:cNvSpPr txBox="1"/>
          <p:nvPr/>
        </p:nvSpPr>
        <p:spPr>
          <a:xfrm>
            <a:off x="5906900" y="2491700"/>
            <a:ext cx="2553300" cy="20973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Customer creates one User Account and owns multiple Bank Accounts</a:t>
            </a:r>
            <a:endParaRPr sz="1100">
              <a:solidFill>
                <a:schemeClr val="dk1"/>
              </a:solidFill>
              <a:latin typeface="Arimo"/>
              <a:ea typeface="Arimo"/>
              <a:cs typeface="Arimo"/>
              <a:sym typeface="Arimo"/>
            </a:endParaRPr>
          </a:p>
          <a:p>
            <a:pPr indent="-298450" lvl="0" marL="457200" rtl="0" algn="l">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User Account handles authentication, sessions, devices, and activity tracking</a:t>
            </a:r>
            <a:endParaRPr sz="1100">
              <a:solidFill>
                <a:schemeClr val="dk1"/>
              </a:solidFill>
              <a:latin typeface="Arimo"/>
              <a:ea typeface="Arimo"/>
              <a:cs typeface="Arimo"/>
              <a:sym typeface="Arimo"/>
            </a:endParaRPr>
          </a:p>
          <a:p>
            <a:pPr indent="-298450" lvl="0" marL="457200" rtl="0" algn="l">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Bank Account manages transactions, statements, transfers, and notes</a:t>
            </a:r>
            <a:endParaRPr sz="1100">
              <a:solidFill>
                <a:schemeClr val="dk1"/>
              </a:solidFill>
              <a:latin typeface="Arimo"/>
              <a:ea typeface="Arimo"/>
              <a:cs typeface="Arimo"/>
              <a:sym typeface="Arimo"/>
            </a:endParaRPr>
          </a:p>
          <a:p>
            <a:pPr indent="-298450" lvl="0" marL="457200" rtl="0" algn="l">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System includes security features like MFA and comprehensive activity logging</a:t>
            </a:r>
            <a:endParaRPr sz="1100">
              <a:solidFill>
                <a:schemeClr val="dk1"/>
              </a:solidFill>
              <a:latin typeface="Arimo"/>
              <a:ea typeface="Arimo"/>
              <a:cs typeface="Arimo"/>
              <a:sym typeface="Arimo"/>
            </a:endParaRPr>
          </a:p>
          <a:p>
            <a:pPr indent="0" lvl="0" marL="457200" rtl="0" algn="l">
              <a:spcBef>
                <a:spcPts val="0"/>
              </a:spcBef>
              <a:spcAft>
                <a:spcPts val="0"/>
              </a:spcAft>
              <a:buNone/>
            </a:pPr>
            <a:r>
              <a:t/>
            </a:r>
            <a:endParaRPr sz="1100">
              <a:solidFill>
                <a:schemeClr val="dk1"/>
              </a:solidFill>
              <a:latin typeface="Arimo"/>
              <a:ea typeface="Arimo"/>
              <a:cs typeface="Arimo"/>
              <a:sym typeface="Arimo"/>
            </a:endParaRPr>
          </a:p>
        </p:txBody>
      </p:sp>
      <p:pic>
        <p:nvPicPr>
          <p:cNvPr id="567" name="Google Shape;567;p57"/>
          <p:cNvPicPr preferRelativeResize="0"/>
          <p:nvPr/>
        </p:nvPicPr>
        <p:blipFill>
          <a:blip r:embed="rId4">
            <a:alphaModFix/>
          </a:blip>
          <a:stretch>
            <a:fillRect/>
          </a:stretch>
        </p:blipFill>
        <p:spPr>
          <a:xfrm>
            <a:off x="178725" y="920050"/>
            <a:ext cx="5406501" cy="2727181"/>
          </a:xfrm>
          <a:prstGeom prst="rect">
            <a:avLst/>
          </a:prstGeom>
          <a:noFill/>
          <a:ln>
            <a:noFill/>
          </a:ln>
        </p:spPr>
      </p:pic>
      <p:pic>
        <p:nvPicPr>
          <p:cNvPr id="568" name="Google Shape;568;p57"/>
          <p:cNvPicPr preferRelativeResize="0"/>
          <p:nvPr/>
        </p:nvPicPr>
        <p:blipFill>
          <a:blip r:embed="rId5">
            <a:alphaModFix/>
          </a:blip>
          <a:stretch>
            <a:fillRect/>
          </a:stretch>
        </p:blipFill>
        <p:spPr>
          <a:xfrm>
            <a:off x="5888750" y="391625"/>
            <a:ext cx="2665187" cy="1986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58"/>
          <p:cNvPicPr preferRelativeResize="0"/>
          <p:nvPr/>
        </p:nvPicPr>
        <p:blipFill rotWithShape="1">
          <a:blip r:embed="rId3">
            <a:alphaModFix amt="10000"/>
          </a:blip>
          <a:srcRect b="13596" l="3713" r="77643" t="20941"/>
          <a:stretch/>
        </p:blipFill>
        <p:spPr>
          <a:xfrm>
            <a:off x="316651" y="1271125"/>
            <a:ext cx="4798500" cy="3588900"/>
          </a:xfrm>
          <a:prstGeom prst="roundRect">
            <a:avLst>
              <a:gd fmla="val 10347" name="adj"/>
            </a:avLst>
          </a:prstGeom>
          <a:noFill/>
          <a:ln>
            <a:noFill/>
          </a:ln>
        </p:spPr>
      </p:pic>
      <p:sp>
        <p:nvSpPr>
          <p:cNvPr id="574" name="Google Shape;574;p58"/>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Architectural Design</a:t>
            </a:r>
            <a:endParaRPr/>
          </a:p>
        </p:txBody>
      </p:sp>
      <p:sp>
        <p:nvSpPr>
          <p:cNvPr id="575" name="Google Shape;575;p5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576" name="Google Shape;576;p58"/>
          <p:cNvPicPr preferRelativeResize="0"/>
          <p:nvPr/>
        </p:nvPicPr>
        <p:blipFill rotWithShape="1">
          <a:blip r:embed="rId3">
            <a:alphaModFix amt="10000"/>
          </a:blip>
          <a:srcRect b="13596" l="3713" r="77643" t="20941"/>
          <a:stretch/>
        </p:blipFill>
        <p:spPr>
          <a:xfrm>
            <a:off x="5313900" y="47350"/>
            <a:ext cx="3476400" cy="4963500"/>
          </a:xfrm>
          <a:prstGeom prst="roundRect">
            <a:avLst>
              <a:gd fmla="val 10347" name="adj"/>
            </a:avLst>
          </a:prstGeom>
          <a:noFill/>
          <a:ln>
            <a:noFill/>
          </a:ln>
        </p:spPr>
      </p:pic>
      <p:pic>
        <p:nvPicPr>
          <p:cNvPr id="577" name="Google Shape;577;p58"/>
          <p:cNvPicPr preferRelativeResize="0"/>
          <p:nvPr/>
        </p:nvPicPr>
        <p:blipFill rotWithShape="1">
          <a:blip r:embed="rId4">
            <a:alphaModFix/>
          </a:blip>
          <a:srcRect b="0" l="27373" r="49201" t="0"/>
          <a:stretch/>
        </p:blipFill>
        <p:spPr>
          <a:xfrm>
            <a:off x="316550" y="1274250"/>
            <a:ext cx="4798500" cy="3588900"/>
          </a:xfrm>
          <a:prstGeom prst="roundRect">
            <a:avLst>
              <a:gd fmla="val 9632" name="adj"/>
            </a:avLst>
          </a:prstGeom>
          <a:noFill/>
          <a:ln>
            <a:noFill/>
          </a:ln>
        </p:spPr>
      </p:pic>
      <p:sp>
        <p:nvSpPr>
          <p:cNvPr id="578" name="Google Shape;578;p58"/>
          <p:cNvSpPr txBox="1"/>
          <p:nvPr/>
        </p:nvSpPr>
        <p:spPr>
          <a:xfrm>
            <a:off x="438450" y="1453675"/>
            <a:ext cx="4645800" cy="3223800"/>
          </a:xfrm>
          <a:prstGeom prst="rect">
            <a:avLst/>
          </a:prstGeom>
          <a:noFill/>
          <a:ln>
            <a:noFill/>
          </a:ln>
        </p:spPr>
        <p:txBody>
          <a:bodyPr anchorCtr="0" anchor="t" bIns="107950" lIns="107950" spcFirstLastPara="1" rIns="107950" wrap="square" tIns="107950">
            <a:noAutofit/>
          </a:bodyPr>
          <a:lstStyle/>
          <a:p>
            <a:pPr indent="-318567" lvl="0" marL="320040" rtl="0" algn="l">
              <a:spcBef>
                <a:spcPts val="0"/>
              </a:spcBef>
              <a:spcAft>
                <a:spcPts val="0"/>
              </a:spcAft>
              <a:buClr>
                <a:schemeClr val="dk1"/>
              </a:buClr>
              <a:buSzPts val="1417"/>
              <a:buFont typeface="Arimo"/>
              <a:buChar char="●"/>
            </a:pPr>
            <a:r>
              <a:rPr lang="en" sz="1416">
                <a:solidFill>
                  <a:schemeClr val="dk1"/>
                </a:solidFill>
                <a:latin typeface="Arimo"/>
                <a:ea typeface="Arimo"/>
                <a:cs typeface="Arimo"/>
                <a:sym typeface="Arimo"/>
              </a:rPr>
              <a:t>Our project utilizes the </a:t>
            </a:r>
            <a:r>
              <a:rPr b="1" lang="en" sz="1416">
                <a:solidFill>
                  <a:schemeClr val="dk1"/>
                </a:solidFill>
                <a:latin typeface="Arimo"/>
                <a:ea typeface="Arimo"/>
                <a:cs typeface="Arimo"/>
                <a:sym typeface="Arimo"/>
              </a:rPr>
              <a:t>Model-View-Controller</a:t>
            </a:r>
            <a:r>
              <a:rPr lang="en" sz="1416">
                <a:solidFill>
                  <a:schemeClr val="dk1"/>
                </a:solidFill>
                <a:latin typeface="Arimo"/>
                <a:ea typeface="Arimo"/>
                <a:cs typeface="Arimo"/>
                <a:sym typeface="Arimo"/>
              </a:rPr>
              <a:t>(MVC) pattern.</a:t>
            </a:r>
            <a:endParaRPr sz="1416">
              <a:solidFill>
                <a:schemeClr val="dk1"/>
              </a:solidFill>
              <a:latin typeface="Arimo"/>
              <a:ea typeface="Arimo"/>
              <a:cs typeface="Arimo"/>
              <a:sym typeface="Arimo"/>
            </a:endParaRPr>
          </a:p>
          <a:p>
            <a:pPr indent="-318567" lvl="0" marL="320040" rtl="0" algn="l">
              <a:spcBef>
                <a:spcPts val="0"/>
              </a:spcBef>
              <a:spcAft>
                <a:spcPts val="0"/>
              </a:spcAft>
              <a:buClr>
                <a:schemeClr val="dk1"/>
              </a:buClr>
              <a:buSzPts val="1417"/>
              <a:buFont typeface="Arimo"/>
              <a:buChar char="●"/>
            </a:pPr>
            <a:r>
              <a:rPr b="1" lang="en" sz="1416">
                <a:solidFill>
                  <a:schemeClr val="dk1"/>
                </a:solidFill>
                <a:latin typeface="Arimo"/>
                <a:ea typeface="Arimo"/>
                <a:cs typeface="Arimo"/>
                <a:sym typeface="Arimo"/>
              </a:rPr>
              <a:t>Model: </a:t>
            </a:r>
            <a:r>
              <a:rPr lang="en" sz="1416">
                <a:solidFill>
                  <a:schemeClr val="dk1"/>
                </a:solidFill>
                <a:latin typeface="Arimo"/>
                <a:ea typeface="Arimo"/>
                <a:cs typeface="Arimo"/>
                <a:sym typeface="Arimo"/>
              </a:rPr>
              <a:t>Manages system data and data operations such as:</a:t>
            </a:r>
            <a:endParaRPr sz="1416">
              <a:solidFill>
                <a:schemeClr val="dk1"/>
              </a:solidFill>
              <a:latin typeface="Arimo"/>
              <a:ea typeface="Arimo"/>
              <a:cs typeface="Arimo"/>
              <a:sym typeface="Arimo"/>
            </a:endParaRPr>
          </a:p>
          <a:p>
            <a:pPr indent="-318567" lvl="1" marL="914400" rtl="0" algn="l">
              <a:spcBef>
                <a:spcPts val="0"/>
              </a:spcBef>
              <a:spcAft>
                <a:spcPts val="0"/>
              </a:spcAft>
              <a:buClr>
                <a:schemeClr val="dk1"/>
              </a:buClr>
              <a:buSzPts val="1417"/>
              <a:buFont typeface="Arimo"/>
              <a:buChar char="○"/>
            </a:pPr>
            <a:r>
              <a:rPr lang="en" sz="1416">
                <a:solidFill>
                  <a:schemeClr val="dk1"/>
                </a:solidFill>
                <a:latin typeface="Arimo"/>
                <a:ea typeface="Arimo"/>
                <a:cs typeface="Arimo"/>
                <a:sym typeface="Arimo"/>
              </a:rPr>
              <a:t>account balances, transaction history, and user account information.</a:t>
            </a:r>
            <a:endParaRPr sz="1416">
              <a:solidFill>
                <a:schemeClr val="dk1"/>
              </a:solidFill>
              <a:latin typeface="Arimo"/>
              <a:ea typeface="Arimo"/>
              <a:cs typeface="Arimo"/>
              <a:sym typeface="Arimo"/>
            </a:endParaRPr>
          </a:p>
          <a:p>
            <a:pPr indent="-318567" lvl="0" marL="320040" rtl="0" algn="l">
              <a:spcBef>
                <a:spcPts val="0"/>
              </a:spcBef>
              <a:spcAft>
                <a:spcPts val="0"/>
              </a:spcAft>
              <a:buClr>
                <a:schemeClr val="dk1"/>
              </a:buClr>
              <a:buSzPts val="1417"/>
              <a:buFont typeface="Arimo"/>
              <a:buChar char="●"/>
            </a:pPr>
            <a:r>
              <a:rPr b="1" lang="en" sz="1416">
                <a:solidFill>
                  <a:schemeClr val="dk1"/>
                </a:solidFill>
                <a:latin typeface="Arimo"/>
                <a:ea typeface="Arimo"/>
                <a:cs typeface="Arimo"/>
                <a:sym typeface="Arimo"/>
              </a:rPr>
              <a:t>View: </a:t>
            </a:r>
            <a:r>
              <a:rPr lang="en" sz="1416">
                <a:solidFill>
                  <a:schemeClr val="dk1"/>
                </a:solidFill>
                <a:latin typeface="Arimo"/>
                <a:ea typeface="Arimo"/>
                <a:cs typeface="Arimo"/>
                <a:sym typeface="Arimo"/>
              </a:rPr>
              <a:t>Displays information from the Model component to the user’s browser.</a:t>
            </a:r>
            <a:endParaRPr sz="1416">
              <a:solidFill>
                <a:schemeClr val="dk1"/>
              </a:solidFill>
              <a:latin typeface="Arimo"/>
              <a:ea typeface="Arimo"/>
              <a:cs typeface="Arimo"/>
              <a:sym typeface="Arimo"/>
            </a:endParaRPr>
          </a:p>
          <a:p>
            <a:pPr indent="-318567" lvl="1" marL="914400" rtl="0" algn="l">
              <a:spcBef>
                <a:spcPts val="0"/>
              </a:spcBef>
              <a:spcAft>
                <a:spcPts val="0"/>
              </a:spcAft>
              <a:buClr>
                <a:schemeClr val="dk1"/>
              </a:buClr>
              <a:buSzPts val="1417"/>
              <a:buFont typeface="Arimo"/>
              <a:buChar char="○"/>
            </a:pPr>
            <a:r>
              <a:rPr lang="en" sz="1416">
                <a:solidFill>
                  <a:schemeClr val="dk1"/>
                </a:solidFill>
                <a:latin typeface="Arimo"/>
                <a:ea typeface="Arimo"/>
                <a:cs typeface="Arimo"/>
                <a:sym typeface="Arimo"/>
              </a:rPr>
              <a:t>List of transactions, current balance. </a:t>
            </a:r>
            <a:endParaRPr sz="1416">
              <a:solidFill>
                <a:schemeClr val="dk1"/>
              </a:solidFill>
              <a:latin typeface="Arimo"/>
              <a:ea typeface="Arimo"/>
              <a:cs typeface="Arimo"/>
              <a:sym typeface="Arimo"/>
            </a:endParaRPr>
          </a:p>
          <a:p>
            <a:pPr indent="-318567" lvl="0" marL="320040" rtl="0" algn="l">
              <a:spcBef>
                <a:spcPts val="0"/>
              </a:spcBef>
              <a:spcAft>
                <a:spcPts val="0"/>
              </a:spcAft>
              <a:buClr>
                <a:schemeClr val="dk1"/>
              </a:buClr>
              <a:buSzPts val="1417"/>
              <a:buFont typeface="Arimo"/>
              <a:buChar char="●"/>
            </a:pPr>
            <a:r>
              <a:rPr b="1" lang="en" sz="1416">
                <a:solidFill>
                  <a:schemeClr val="dk1"/>
                </a:solidFill>
                <a:latin typeface="Arimo"/>
                <a:ea typeface="Arimo"/>
                <a:cs typeface="Arimo"/>
                <a:sym typeface="Arimo"/>
              </a:rPr>
              <a:t>Controller:  </a:t>
            </a:r>
            <a:r>
              <a:rPr lang="en" sz="1416">
                <a:solidFill>
                  <a:schemeClr val="dk1"/>
                </a:solidFill>
                <a:latin typeface="Arimo"/>
                <a:ea typeface="Arimo"/>
                <a:cs typeface="Arimo"/>
                <a:sym typeface="Arimo"/>
              </a:rPr>
              <a:t>Handles user input and passes it into the Model and View components. The component also verifies information and asserts security measures per interaction, such as:</a:t>
            </a:r>
            <a:endParaRPr sz="1416">
              <a:solidFill>
                <a:schemeClr val="dk1"/>
              </a:solidFill>
              <a:latin typeface="Arimo"/>
              <a:ea typeface="Arimo"/>
              <a:cs typeface="Arimo"/>
              <a:sym typeface="Arimo"/>
            </a:endParaRPr>
          </a:p>
          <a:p>
            <a:pPr indent="-318567" lvl="1" marL="914400" rtl="0" algn="l">
              <a:spcBef>
                <a:spcPts val="0"/>
              </a:spcBef>
              <a:spcAft>
                <a:spcPts val="0"/>
              </a:spcAft>
              <a:buClr>
                <a:schemeClr val="dk1"/>
              </a:buClr>
              <a:buSzPts val="1417"/>
              <a:buFont typeface="Arimo"/>
              <a:buChar char="○"/>
            </a:pPr>
            <a:r>
              <a:rPr lang="en" sz="1416">
                <a:solidFill>
                  <a:schemeClr val="dk1"/>
                </a:solidFill>
                <a:latin typeface="Arimo"/>
                <a:ea typeface="Arimo"/>
                <a:cs typeface="Arimo"/>
                <a:sym typeface="Arimo"/>
              </a:rPr>
              <a:t>Withdrawal and user account authorization.</a:t>
            </a:r>
            <a:endParaRPr sz="1416">
              <a:solidFill>
                <a:schemeClr val="dk1"/>
              </a:solidFill>
              <a:latin typeface="Arimo"/>
              <a:ea typeface="Arimo"/>
              <a:cs typeface="Arimo"/>
              <a:sym typeface="Arimo"/>
            </a:endParaRPr>
          </a:p>
        </p:txBody>
      </p:sp>
      <p:pic>
        <p:nvPicPr>
          <p:cNvPr id="579" name="Google Shape;579;p58"/>
          <p:cNvPicPr preferRelativeResize="0"/>
          <p:nvPr/>
        </p:nvPicPr>
        <p:blipFill rotWithShape="1">
          <a:blip r:embed="rId4">
            <a:alphaModFix/>
          </a:blip>
          <a:srcRect b="0" l="27373" r="49201" t="0"/>
          <a:stretch/>
        </p:blipFill>
        <p:spPr>
          <a:xfrm>
            <a:off x="5313900" y="47350"/>
            <a:ext cx="3476400" cy="4951500"/>
          </a:xfrm>
          <a:prstGeom prst="roundRect">
            <a:avLst>
              <a:gd fmla="val 9632" name="adj"/>
            </a:avLst>
          </a:prstGeom>
          <a:noFill/>
          <a:ln>
            <a:noFill/>
          </a:ln>
        </p:spPr>
      </p:pic>
      <p:pic>
        <p:nvPicPr>
          <p:cNvPr id="580" name="Google Shape;580;p58"/>
          <p:cNvPicPr preferRelativeResize="0"/>
          <p:nvPr/>
        </p:nvPicPr>
        <p:blipFill rotWithShape="1">
          <a:blip r:embed="rId5">
            <a:alphaModFix/>
          </a:blip>
          <a:srcRect b="0" l="11183" r="7601" t="0"/>
          <a:stretch/>
        </p:blipFill>
        <p:spPr>
          <a:xfrm>
            <a:off x="5550300" y="138663"/>
            <a:ext cx="3003600" cy="47808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9"/>
          <p:cNvSpPr txBox="1"/>
          <p:nvPr>
            <p:ph idx="1" type="subTitle"/>
          </p:nvPr>
        </p:nvSpPr>
        <p:spPr>
          <a:xfrm>
            <a:off x="405250" y="1456700"/>
            <a:ext cx="8328300" cy="3208200"/>
          </a:xfrm>
          <a:prstGeom prst="rect">
            <a:avLst/>
          </a:prstGeom>
        </p:spPr>
        <p:txBody>
          <a:bodyPr anchorCtr="0" anchor="t" bIns="91425" lIns="91425" spcFirstLastPara="1" rIns="0" wrap="square" tIns="91425">
            <a:noAutofit/>
          </a:bodyPr>
          <a:lstStyle/>
          <a:p>
            <a:pPr indent="0" lvl="0" marL="0" rtl="0" algn="l">
              <a:lnSpc>
                <a:spcPct val="115000"/>
              </a:lnSpc>
              <a:spcBef>
                <a:spcPts val="0"/>
              </a:spcBef>
              <a:spcAft>
                <a:spcPts val="0"/>
              </a:spcAft>
              <a:buNone/>
            </a:pPr>
            <a:r>
              <a:rPr lang="en" sz="1400">
                <a:solidFill>
                  <a:schemeClr val="lt1"/>
                </a:solidFill>
              </a:rPr>
              <a:t>[1] C. L. Vien, “College students think they manage money well, but they don’t, survey finds,” </a:t>
            </a:r>
            <a:r>
              <a:rPr i="1" lang="en" sz="1400">
                <a:solidFill>
                  <a:schemeClr val="lt1"/>
                </a:solidFill>
              </a:rPr>
              <a:t>Journal of Accountancy</a:t>
            </a:r>
            <a:r>
              <a:rPr lang="en" sz="1400">
                <a:solidFill>
                  <a:schemeClr val="lt1"/>
                </a:solidFill>
              </a:rPr>
              <a:t>, Sep. 10, 2015. </a:t>
            </a:r>
            <a:r>
              <a:rPr lang="en" sz="1400" u="sng">
                <a:solidFill>
                  <a:schemeClr val="hlink"/>
                </a:solidFill>
                <a:hlinkClick r:id="rId3"/>
              </a:rPr>
              <a:t>https://www.journalofaccountancy.com/news/2015/sep/financial-literacy-skills-201512981/</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rPr lang="en" sz="1400">
                <a:solidFill>
                  <a:schemeClr val="lt1"/>
                </a:solidFill>
              </a:rPr>
              <a:t>[2] D. Zapp, “Money Matters on Campus Report,” </a:t>
            </a:r>
            <a:r>
              <a:rPr i="1" lang="en" sz="1400">
                <a:solidFill>
                  <a:schemeClr val="lt1"/>
                </a:solidFill>
              </a:rPr>
              <a:t>Everfi</a:t>
            </a:r>
            <a:r>
              <a:rPr lang="en" sz="1400">
                <a:solidFill>
                  <a:schemeClr val="lt1"/>
                </a:solidFill>
              </a:rPr>
              <a:t>, Nov. 12, 2025. </a:t>
            </a:r>
            <a:r>
              <a:rPr lang="en" sz="1400" u="sng">
                <a:solidFill>
                  <a:schemeClr val="hlink"/>
                </a:solidFill>
                <a:hlinkClick r:id="rId4"/>
              </a:rPr>
              <a:t>https://everfi.com/resources/white-paper/money-matters-on-campus-report/</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rPr lang="en" sz="1400">
                <a:solidFill>
                  <a:schemeClr val="lt1"/>
                </a:solidFill>
              </a:rPr>
              <a:t>[3] M. Burkhard and J. Madden, “Buckling under Debt and a Lack of Financial Knowledge, College Students Feel Toll of Financial Stress | American International Group, Inc.,” </a:t>
            </a:r>
            <a:r>
              <a:rPr i="1" lang="en" sz="1400">
                <a:solidFill>
                  <a:schemeClr val="lt1"/>
                </a:solidFill>
              </a:rPr>
              <a:t>American International Group, Inc.</a:t>
            </a:r>
            <a:r>
              <a:rPr lang="en" sz="1400">
                <a:solidFill>
                  <a:schemeClr val="lt1"/>
                </a:solidFill>
              </a:rPr>
              <a:t>, 2019. https://aig.gcs-web.com/news-releases/news-release-details/buckling-under-debt-and-lack-financial-knowledge-college (accessed Nov. 24, 2025).</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
        <p:nvSpPr>
          <p:cNvPr id="586" name="Google Shape;586;p59"/>
          <p:cNvSpPr txBox="1"/>
          <p:nvPr>
            <p:ph type="title"/>
          </p:nvPr>
        </p:nvSpPr>
        <p:spPr>
          <a:xfrm>
            <a:off x="277500" y="277500"/>
            <a:ext cx="8000100" cy="807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Sources</a:t>
            </a:r>
            <a:endParaRPr/>
          </a:p>
        </p:txBody>
      </p:sp>
      <p:sp>
        <p:nvSpPr>
          <p:cNvPr id="587" name="Google Shape;587;p5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0"/>
          <p:cNvSpPr txBox="1"/>
          <p:nvPr>
            <p:ph type="title"/>
          </p:nvPr>
        </p:nvSpPr>
        <p:spPr>
          <a:xfrm>
            <a:off x="625375" y="2731850"/>
            <a:ext cx="40344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 you!</a:t>
            </a:r>
            <a:endParaRPr/>
          </a:p>
        </p:txBody>
      </p:sp>
      <p:cxnSp>
        <p:nvCxnSpPr>
          <p:cNvPr id="593" name="Google Shape;593;p60"/>
          <p:cNvCxnSpPr/>
          <p:nvPr/>
        </p:nvCxnSpPr>
        <p:spPr>
          <a:xfrm>
            <a:off x="5260800" y="278400"/>
            <a:ext cx="0" cy="4581900"/>
          </a:xfrm>
          <a:prstGeom prst="straightConnector1">
            <a:avLst/>
          </a:prstGeom>
          <a:noFill/>
          <a:ln cap="flat" cmpd="sng" w="9525">
            <a:solidFill>
              <a:schemeClr val="dk2"/>
            </a:solidFill>
            <a:prstDash val="solid"/>
            <a:round/>
            <a:headEnd len="med" w="med" type="none"/>
            <a:tailEnd len="med" w="med" type="none"/>
          </a:ln>
        </p:spPr>
      </p:cxnSp>
      <p:sp>
        <p:nvSpPr>
          <p:cNvPr id="594" name="Google Shape;594;p60"/>
          <p:cNvSpPr txBox="1"/>
          <p:nvPr/>
        </p:nvSpPr>
        <p:spPr>
          <a:xfrm>
            <a:off x="9271600" y="3185600"/>
            <a:ext cx="2941500" cy="1181400"/>
          </a:xfrm>
          <a:prstGeom prst="rect">
            <a:avLst/>
          </a:prstGeom>
          <a:noFill/>
          <a:ln>
            <a:noFill/>
          </a:ln>
        </p:spPr>
        <p:txBody>
          <a:bodyPr anchorCtr="0" anchor="b" bIns="91425" lIns="0" spcFirstLastPara="1" rIns="0" wrap="square" tIns="0">
            <a:noAutofit/>
          </a:bodyPr>
          <a:lstStyle/>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600">
                <a:solidFill>
                  <a:schemeClr val="dk1"/>
                </a:solidFill>
                <a:latin typeface="Arimo"/>
                <a:ea typeface="Arimo"/>
                <a:cs typeface="Arimo"/>
                <a:sym typeface="Arimo"/>
              </a:rPr>
              <a:t>Questions?</a:t>
            </a:r>
            <a:endParaRPr sz="1600">
              <a:solidFill>
                <a:schemeClr val="dk1"/>
              </a:solidFill>
              <a:latin typeface="Arimo"/>
              <a:ea typeface="Arimo"/>
              <a:cs typeface="Arimo"/>
              <a:sym typeface="Arimo"/>
            </a:endParaRPr>
          </a:p>
        </p:txBody>
      </p:sp>
      <p:sp>
        <p:nvSpPr>
          <p:cNvPr id="595" name="Google Shape;595;p6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